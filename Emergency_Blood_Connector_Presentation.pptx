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152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341">
          <p15:clr>
            <a:srgbClr val="747775"/>
          </p15:clr>
        </p15:guide>
      </p15:sldGuideLst>
    </p:ext>
    <p:ext uri="GoogleSlidesCustomDataVersion2">
      <go:slidesCustomData xmlns:go="http://customooxmlschemas.google.com/" r:id="rId9" roundtripDataSignature="AMtx7mhHrbkIkvXodWRhyB5fEswEz3Dm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52" orient="horz"/>
        <p:guide pos="2880"/>
        <p:guide pos="341" orient="horz"/>
      </p:guideLst>
    </p:cSldViewPr>
  </p:slideViewPr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customschemas.google.com/relationships/presentationmetadata" Target="metadata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2339eb39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2339eb39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body"/>
          </p:nvPr>
        </p:nvSpPr>
        <p:spPr>
          <a:xfrm>
            <a:off x="457200" y="120015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1187450" lvl="0" marL="457200" algn="l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SzPts val="15100"/>
              <a:buChar char="•"/>
              <a:defRPr/>
            </a:lvl1pPr>
            <a:lvl2pPr indent="-1066800" lvl="1" marL="914400" algn="l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SzPts val="13200"/>
              <a:buChar char="–"/>
              <a:defRPr/>
            </a:lvl2pPr>
            <a:lvl3pPr indent="-946150" lvl="2" marL="137160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SzPts val="11300"/>
              <a:buChar char="•"/>
              <a:defRPr/>
            </a:lvl3pPr>
            <a:lvl4pPr indent="-825500" lvl="3" marL="18288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SzPts val="9400"/>
              <a:buChar char="–"/>
              <a:defRPr/>
            </a:lvl4pPr>
            <a:lvl5pPr indent="-825500" lvl="4" marL="22860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SzPts val="9400"/>
              <a:buChar char="»"/>
              <a:defRPr/>
            </a:lvl5pPr>
            <a:lvl6pPr indent="-825500" lvl="5" marL="27432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SzPts val="9400"/>
              <a:buChar char="•"/>
              <a:defRPr/>
            </a:lvl6pPr>
            <a:lvl7pPr indent="-825500" lvl="6" marL="32004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SzPts val="9400"/>
              <a:buChar char="•"/>
              <a:defRPr/>
            </a:lvl7pPr>
            <a:lvl8pPr indent="-825500" lvl="7" marL="36576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SzPts val="9400"/>
              <a:buChar char="•"/>
              <a:defRPr/>
            </a:lvl8pPr>
            <a:lvl9pPr indent="-825500" lvl="8" marL="41148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SzPts val="9400"/>
              <a:buChar char="•"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457200" y="1200152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1066800" lvl="0" marL="457200" algn="l">
              <a:lnSpc>
                <a:spcPct val="10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3200"/>
              <a:buChar char="•"/>
              <a:defRPr sz="2900"/>
            </a:lvl1pPr>
            <a:lvl2pPr indent="-946150" lvl="1" marL="914400" algn="l">
              <a:lnSpc>
                <a:spcPct val="100000"/>
              </a:lnSpc>
              <a:spcBef>
                <a:spcPts val="494"/>
              </a:spcBef>
              <a:spcAft>
                <a:spcPts val="0"/>
              </a:spcAft>
              <a:buClr>
                <a:schemeClr val="dk1"/>
              </a:buClr>
              <a:buSzPts val="11300"/>
              <a:buChar char="–"/>
              <a:defRPr sz="2500"/>
            </a:lvl2pPr>
            <a:lvl3pPr indent="-825500" lvl="2" marL="13716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2100"/>
            </a:lvl3pPr>
            <a:lvl4pPr indent="-768350" lvl="3" marL="18288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–"/>
              <a:defRPr sz="1900"/>
            </a:lvl4pPr>
            <a:lvl5pPr indent="-768350" lvl="4" marL="22860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»"/>
              <a:defRPr sz="1900"/>
            </a:lvl5pPr>
            <a:lvl6pPr indent="-768350" lvl="5" marL="27432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6pPr>
            <a:lvl7pPr indent="-768350" lvl="6" marL="32004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7pPr>
            <a:lvl8pPr indent="-768350" lvl="7" marL="36576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8pPr>
            <a:lvl9pPr indent="-768350" lvl="8" marL="41148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9pPr>
          </a:lstStyle>
          <a:p/>
        </p:txBody>
      </p:sp>
      <p:sp>
        <p:nvSpPr>
          <p:cNvPr id="20" name="Google Shape;20;p21"/>
          <p:cNvSpPr txBox="1"/>
          <p:nvPr>
            <p:ph idx="2" type="body"/>
          </p:nvPr>
        </p:nvSpPr>
        <p:spPr>
          <a:xfrm>
            <a:off x="4648200" y="1200152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1066800" lvl="0" marL="457200" algn="l">
              <a:lnSpc>
                <a:spcPct val="10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3200"/>
              <a:buChar char="•"/>
              <a:defRPr sz="2900"/>
            </a:lvl1pPr>
            <a:lvl2pPr indent="-946150" lvl="1" marL="914400" algn="l">
              <a:lnSpc>
                <a:spcPct val="100000"/>
              </a:lnSpc>
              <a:spcBef>
                <a:spcPts val="494"/>
              </a:spcBef>
              <a:spcAft>
                <a:spcPts val="0"/>
              </a:spcAft>
              <a:buClr>
                <a:schemeClr val="dk1"/>
              </a:buClr>
              <a:buSzPts val="11300"/>
              <a:buChar char="–"/>
              <a:defRPr sz="2500"/>
            </a:lvl2pPr>
            <a:lvl3pPr indent="-825500" lvl="2" marL="13716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2100"/>
            </a:lvl3pPr>
            <a:lvl4pPr indent="-768350" lvl="3" marL="18288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–"/>
              <a:defRPr sz="1900"/>
            </a:lvl4pPr>
            <a:lvl5pPr indent="-768350" lvl="4" marL="22860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»"/>
              <a:defRPr sz="1900"/>
            </a:lvl5pPr>
            <a:lvl6pPr indent="-768350" lvl="5" marL="27432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6pPr>
            <a:lvl7pPr indent="-768350" lvl="6" marL="32004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7pPr>
            <a:lvl8pPr indent="-768350" lvl="7" marL="36576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8pPr>
            <a:lvl9pPr indent="-768350" lvl="8" marL="41148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9pPr>
          </a:lstStyle>
          <a:p/>
        </p:txBody>
      </p:sp>
      <p:sp>
        <p:nvSpPr>
          <p:cNvPr id="21" name="Google Shape;21;p21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7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" type="body"/>
          </p:nvPr>
        </p:nvSpPr>
        <p:spPr>
          <a:xfrm>
            <a:off x="457200" y="1151335"/>
            <a:ext cx="4040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7025" lIns="94100" spcFirstLastPara="1" rIns="94100" wrap="square" tIns="470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94"/>
              </a:spcBef>
              <a:spcAft>
                <a:spcPts val="0"/>
              </a:spcAft>
              <a:buClr>
                <a:schemeClr val="dk1"/>
              </a:buClr>
              <a:buSzPts val="11300"/>
              <a:buNone/>
              <a:defRPr b="1" sz="2500"/>
            </a:lvl1pPr>
            <a:lvl2pPr indent="-228600" lvl="1" marL="9144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None/>
              <a:defRPr b="1" sz="2100"/>
            </a:lvl2pPr>
            <a:lvl3pPr indent="-228600" lvl="2" marL="13716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None/>
              <a:defRPr b="1" sz="1900"/>
            </a:lvl3pPr>
            <a:lvl4pPr indent="-228600" lvl="3" marL="18288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9pPr>
          </a:lstStyle>
          <a:p/>
        </p:txBody>
      </p:sp>
      <p:sp>
        <p:nvSpPr>
          <p:cNvPr id="27" name="Google Shape;27;p22"/>
          <p:cNvSpPr txBox="1"/>
          <p:nvPr>
            <p:ph idx="2" type="body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946150" lvl="0" marL="457200" algn="l">
              <a:lnSpc>
                <a:spcPct val="100000"/>
              </a:lnSpc>
              <a:spcBef>
                <a:spcPts val="494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2500"/>
            </a:lvl1pPr>
            <a:lvl2pPr indent="-825500" lvl="1" marL="9144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–"/>
              <a:defRPr sz="2100"/>
            </a:lvl2pPr>
            <a:lvl3pPr indent="-768350" lvl="2" marL="13716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3pPr>
            <a:lvl4pPr indent="-704850" lvl="3" marL="18288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–"/>
              <a:defRPr sz="1600"/>
            </a:lvl4pPr>
            <a:lvl5pPr indent="-704850" lvl="4" marL="22860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»"/>
              <a:defRPr sz="1600"/>
            </a:lvl5pPr>
            <a:lvl6pPr indent="-704850" lvl="5" marL="27432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6pPr>
            <a:lvl7pPr indent="-704850" lvl="6" marL="32004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7pPr>
            <a:lvl8pPr indent="-704850" lvl="7" marL="36576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8pPr>
            <a:lvl9pPr indent="-704850" lvl="8" marL="41148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9pPr>
          </a:lstStyle>
          <a:p/>
        </p:txBody>
      </p:sp>
      <p:sp>
        <p:nvSpPr>
          <p:cNvPr id="28" name="Google Shape;28;p22"/>
          <p:cNvSpPr txBox="1"/>
          <p:nvPr>
            <p:ph idx="3" type="body"/>
          </p:nvPr>
        </p:nvSpPr>
        <p:spPr>
          <a:xfrm>
            <a:off x="4645026" y="1151335"/>
            <a:ext cx="4041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7025" lIns="94100" spcFirstLastPara="1" rIns="94100" wrap="square" tIns="470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94"/>
              </a:spcBef>
              <a:spcAft>
                <a:spcPts val="0"/>
              </a:spcAft>
              <a:buClr>
                <a:schemeClr val="dk1"/>
              </a:buClr>
              <a:buSzPts val="11300"/>
              <a:buNone/>
              <a:defRPr b="1" sz="2500"/>
            </a:lvl1pPr>
            <a:lvl2pPr indent="-228600" lvl="1" marL="9144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None/>
              <a:defRPr b="1" sz="2100"/>
            </a:lvl2pPr>
            <a:lvl3pPr indent="-228600" lvl="2" marL="13716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None/>
              <a:defRPr b="1" sz="1900"/>
            </a:lvl3pPr>
            <a:lvl4pPr indent="-228600" lvl="3" marL="18288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9pPr>
          </a:lstStyle>
          <a:p/>
        </p:txBody>
      </p:sp>
      <p:sp>
        <p:nvSpPr>
          <p:cNvPr id="29" name="Google Shape;29;p22"/>
          <p:cNvSpPr txBox="1"/>
          <p:nvPr>
            <p:ph idx="4" type="body"/>
          </p:nvPr>
        </p:nvSpPr>
        <p:spPr>
          <a:xfrm>
            <a:off x="4645026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946150" lvl="0" marL="457200" algn="l">
              <a:lnSpc>
                <a:spcPct val="100000"/>
              </a:lnSpc>
              <a:spcBef>
                <a:spcPts val="494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2500"/>
            </a:lvl1pPr>
            <a:lvl2pPr indent="-825500" lvl="1" marL="9144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–"/>
              <a:defRPr sz="2100"/>
            </a:lvl2pPr>
            <a:lvl3pPr indent="-768350" lvl="2" marL="13716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3pPr>
            <a:lvl4pPr indent="-704850" lvl="3" marL="18288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–"/>
              <a:defRPr sz="1600"/>
            </a:lvl4pPr>
            <a:lvl5pPr indent="-704850" lvl="4" marL="22860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»"/>
              <a:defRPr sz="1600"/>
            </a:lvl5pPr>
            <a:lvl6pPr indent="-704850" lvl="5" marL="27432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6pPr>
            <a:lvl7pPr indent="-704850" lvl="6" marL="32004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7pPr>
            <a:lvl8pPr indent="-704850" lvl="7" marL="36576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8pPr>
            <a:lvl9pPr indent="-704850" lvl="8" marL="41148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457202" y="204788"/>
            <a:ext cx="3008400" cy="87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7025" lIns="94100" spcFirstLastPara="1" rIns="94100" wrap="square" tIns="47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Calibri"/>
              <a:buNone/>
              <a:defRPr b="1"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3575051" y="204789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1187450" lvl="0" marL="45720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15100"/>
              <a:buChar char="•"/>
              <a:defRPr sz="3300"/>
            </a:lvl1pPr>
            <a:lvl2pPr indent="-1066800" lvl="1" marL="914400" algn="l">
              <a:lnSpc>
                <a:spcPct val="10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3200"/>
              <a:buChar char="–"/>
              <a:defRPr sz="2900"/>
            </a:lvl2pPr>
            <a:lvl3pPr indent="-946150" lvl="2" marL="1371600" algn="l">
              <a:lnSpc>
                <a:spcPct val="100000"/>
              </a:lnSpc>
              <a:spcBef>
                <a:spcPts val="494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2500"/>
            </a:lvl3pPr>
            <a:lvl4pPr indent="-825500" lvl="3" marL="18288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–"/>
              <a:defRPr sz="2100"/>
            </a:lvl4pPr>
            <a:lvl5pPr indent="-825500" lvl="4" marL="22860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»"/>
              <a:defRPr sz="2100"/>
            </a:lvl5pPr>
            <a:lvl6pPr indent="-825500" lvl="5" marL="27432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2100"/>
            </a:lvl6pPr>
            <a:lvl7pPr indent="-825500" lvl="6" marL="32004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2100"/>
            </a:lvl7pPr>
            <a:lvl8pPr indent="-825500" lvl="7" marL="36576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2100"/>
            </a:lvl8pPr>
            <a:lvl9pPr indent="-825500" lvl="8" marL="41148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2100"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457202" y="1076326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9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6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1792289" y="3600452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7025" lIns="94100" spcFirstLastPara="1" rIns="94100" wrap="square" tIns="47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Calibri"/>
              <a:buNone/>
              <a:defRPr b="1"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/>
          <p:nvPr>
            <p:ph idx="2" type="pic"/>
          </p:nvPr>
        </p:nvSpPr>
        <p:spPr>
          <a:xfrm>
            <a:off x="1792289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24"/>
          <p:cNvSpPr txBox="1"/>
          <p:nvPr>
            <p:ph idx="1" type="body"/>
          </p:nvPr>
        </p:nvSpPr>
        <p:spPr>
          <a:xfrm>
            <a:off x="1792289" y="4025505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9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6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9pPr>
          </a:lstStyle>
          <a:p/>
        </p:txBody>
      </p:sp>
      <p:sp>
        <p:nvSpPr>
          <p:cNvPr id="44" name="Google Shape;44;p24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45" name="Google Shape;45;p24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" type="body"/>
          </p:nvPr>
        </p:nvSpPr>
        <p:spPr>
          <a:xfrm rot="5400000">
            <a:off x="2874751" y="-1217399"/>
            <a:ext cx="33945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6"/>
          <p:cNvSpPr txBox="1"/>
          <p:nvPr>
            <p:ph type="title"/>
          </p:nvPr>
        </p:nvSpPr>
        <p:spPr>
          <a:xfrm rot="5400000">
            <a:off x="5463751" y="1371630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6"/>
          <p:cNvSpPr txBox="1"/>
          <p:nvPr>
            <p:ph idx="1" type="body"/>
          </p:nvPr>
        </p:nvSpPr>
        <p:spPr>
          <a:xfrm rot="5400000">
            <a:off x="1272750" y="-609570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700"/>
              <a:buFont typeface="Calibri"/>
              <a:buNone/>
              <a:defRPr b="0" i="0" sz="20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457200" y="120015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1187450" lvl="0" marL="457200" marR="0" rtl="0" algn="l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Clr>
                <a:schemeClr val="dk1"/>
              </a:buClr>
              <a:buSzPts val="15100"/>
              <a:buFont typeface="Arial"/>
              <a:buChar char="•"/>
              <a:defRPr b="0" i="0" sz="15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66800" lvl="1" marL="914400" marR="0" rtl="0" algn="l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Arial"/>
              <a:buChar char="–"/>
              <a:defRPr b="0" i="0" sz="1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946150" lvl="2" marL="1371600" marR="0" rtl="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Font typeface="Arial"/>
              <a:buChar char="•"/>
              <a:defRPr b="0" i="0" sz="1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25500" lvl="3" marL="18288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–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25500" lvl="4" marL="22860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»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25500" lvl="5" marL="27432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5500" lvl="6" marL="32004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25500" lvl="7" marL="36576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25500" lvl="8" marL="41148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SreeshwanMaralakshikari/Emergency_Blood_Connector" TargetMode="External"/><Relationship Id="rId3" Type="http://schemas.openxmlformats.org/officeDocument/2006/relationships/hyperlink" Target="https://emergency-blood-connector-lilac.vercel.app" TargetMode="External"/><Relationship Id="rId4" Type="http://schemas.openxmlformats.org/officeDocument/2006/relationships/hyperlink" Target="https://emergency-blood-connector-kbw2.onrender.com" TargetMode="Externa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react.dev" TargetMode="External"/><Relationship Id="rId3" Type="http://schemas.openxmlformats.org/officeDocument/2006/relationships/hyperlink" Target="https://expressjs.com" TargetMode="External"/><Relationship Id="rId4" Type="http://schemas.openxmlformats.org/officeDocument/2006/relationships/hyperlink" Target="https://mongodb.com/docs" TargetMode="External"/><Relationship Id="rId5" Type="http://schemas.openxmlformats.org/officeDocument/2006/relationships/hyperlink" Target="https://mongoosejs.com/docs" TargetMode="External"/><Relationship Id="rId6" Type="http://schemas.openxmlformats.org/officeDocument/2006/relationships/hyperlink" Target="https://redux-toolkit.js.org" TargetMode="External"/><Relationship Id="rId7" Type="http://schemas.openxmlformats.org/officeDocument/2006/relationships/hyperlink" Target="https://react-hook-form.com" TargetMode="External"/><Relationship Id="rId8" Type="http://schemas.openxmlformats.org/officeDocument/2006/relationships/hyperlink" Target="https://tailwindcss.com/docs" TargetMode="External"/><Relationship Id="rId9" Type="http://schemas.openxmlformats.org/officeDocument/2006/relationships/hyperlink" Target="https://vitejs.dev" TargetMode="External"/><Relationship Id="rId10" Type="http://schemas.openxmlformats.org/officeDocument/2006/relationships/hyperlink" Target="https://jwt.io/introduction" TargetMode="External"/><Relationship Id="rId11" Type="http://schemas.openxmlformats.org/officeDocument/2006/relationships/hyperlink" Target="https://cloudinary.com/documentation" TargetMode="External"/><Relationship Id="rId12" Type="http://schemas.openxmlformats.org/officeDocument/2006/relationships/hyperlink" Target="https://vercel.com/docs" TargetMode="External"/><Relationship Id="rId13" Type="http://schemas.openxmlformats.org/officeDocument/2006/relationships/hyperlink" Target="https://render.com/docs" TargetMode="External"/><Relationship Id="rId14" Type="http://schemas.openxmlformats.org/officeDocument/2006/relationships/hyperlink" Target="https://eraktkosh.mohfw.gov.in" TargetMode="External"/><Relationship Id="rId15" Type="http://schemas.openxmlformats.org/officeDocument/2006/relationships/hyperlink" Target="https://friends2support.or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>
            <p:ph idx="1" type="body"/>
          </p:nvPr>
        </p:nvSpPr>
        <p:spPr>
          <a:xfrm>
            <a:off x="642938" y="2196703"/>
            <a:ext cx="7815262" cy="2661047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SzPts val="15100"/>
              <a:buNone/>
            </a:pPr>
            <a:r>
              <a:t/>
            </a:r>
            <a:endParaRPr/>
          </a:p>
          <a:p>
            <a:pPr indent="501650" lvl="0" marL="457200" rtl="0" algn="l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SzPts val="15100"/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3415004" y="3219941"/>
            <a:ext cx="4572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6" name="Google Shape;66;p2"/>
          <p:cNvSpPr txBox="1"/>
          <p:nvPr>
            <p:ph type="title"/>
          </p:nvPr>
        </p:nvSpPr>
        <p:spPr>
          <a:xfrm>
            <a:off x="138224" y="480000"/>
            <a:ext cx="82296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700"/>
              <a:buNone/>
            </a:pPr>
            <a:r>
              <a:rPr lang="en-US" sz="2800" b="1">
                <a:latin typeface="Bookman Old Style"/>
                <a:ea typeface="Bookman Old Style"/>
                <a:cs typeface="Bookman Old Style"/>
                <a:sym typeface="Bookman Old Style"/>
              </a:rPr>
              <a:t>EMERGENCY BLOOD CONNECTOR</a:t>
            </a:r>
            <a:endParaRPr sz="2800"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i="1">
                <a:latin typeface="Bookman Old Style"/>
                <a:ea typeface="Bookman Old Style"/>
                <a:cs typeface="Bookman Old Style"/>
                <a:sym typeface="Bookman Old Style"/>
              </a:rPr>
              <a:t>A Full-Stack Platform for Real-Time Blood Donor-Patient Matching</a:t>
            </a:r>
            <a:endParaRPr sz="1400"/>
          </a:p>
        </p:txBody>
      </p:sp>
      <p:sp>
        <p:nvSpPr>
          <p:cNvPr id="67" name="Google Shape;67;p2"/>
          <p:cNvSpPr txBox="1"/>
          <p:nvPr/>
        </p:nvSpPr>
        <p:spPr>
          <a:xfrm>
            <a:off x="267767" y="3265616"/>
            <a:ext cx="2064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Bookman Old Style"/>
                <a:ea typeface="Bookman Old Style"/>
                <a:cs typeface="Bookman Old Style"/>
                <a:sym typeface="Bookman Old Style"/>
              </a:rPr>
              <a:t>Student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 xml:space="preserve"> Details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Maralakshikari Sreeshwan (24EG105Q47)</a:t>
            </a:r>
            <a:endParaRPr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 txBox="1"/>
          <p:nvPr/>
        </p:nvSpPr>
        <p:spPr>
          <a:xfrm>
            <a:off x="5470632" y="3239550"/>
            <a:ext cx="2070599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 xml:space="preserve">Project Guide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Name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Designation</a:t>
            </a:r>
            <a:endParaRPr/>
          </a:p>
        </p:txBody>
      </p:sp>
      <p:sp>
        <p:nvSpPr>
          <p:cNvPr id="69" name="Google Shape;69;p2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Bookman Old Style"/>
                <a:ea typeface="Bookman Old Style"/>
                <a:cs typeface="Bookman Old Style"/>
                <a:sym typeface="Bookman Old Style"/>
              </a:rPr>
              <a:t>‹#›</a:t>
            </a:fld>
            <a:endParaRPr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415004" y="3219941"/>
            <a:ext cx="4572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77" name="Google Shape;77;p3"/>
          <p:cNvSpPr txBox="1"/>
          <p:nvPr>
            <p:ph type="title"/>
          </p:nvPr>
        </p:nvSpPr>
        <p:spPr>
          <a:xfrm>
            <a:off x="1053736" y="541342"/>
            <a:ext cx="6117300" cy="62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700"/>
              <a:buNone/>
            </a:pPr>
            <a:r>
              <a:rPr lang="en-US" sz="1600"/>
              <a:t>Index</a:t>
            </a:r>
            <a:endParaRPr sz="1600"/>
          </a:p>
        </p:txBody>
      </p:sp>
      <p:sp>
        <p:nvSpPr>
          <p:cNvPr id="78" name="Google Shape;78;p3"/>
          <p:cNvSpPr txBox="1"/>
          <p:nvPr/>
        </p:nvSpPr>
        <p:spPr>
          <a:xfrm>
            <a:off x="457195" y="1102121"/>
            <a:ext cx="6656100" cy="46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 of the Project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&amp; Hardware Requirements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Design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Flowchart &amp; Algorithm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 Description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/ Output Screens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&amp; Limitations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Enhancements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 Deployment &amp; Repository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 xml:space="preserve"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79" name="Google Shape;79;p3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2339eb39d_0_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Bookman Old Style"/>
                <a:ea typeface="Bookman Old Style"/>
                <a:cs typeface="Bookman Old Style"/>
                <a:sym typeface="Bookman Old Style"/>
              </a:rPr>
              <a:t>Introduction</a:t>
            </a:r>
            <a:endParaRPr sz="1800"/>
          </a:p>
        </p:txBody>
      </p:sp>
      <p:sp>
        <p:nvSpPr>
          <p:cNvPr id="86" name="Google Shape;86;g3f2339eb39d_0_6"/>
          <p:cNvSpPr txBox="1"/>
          <p:nvPr>
            <p:ph idx="1" type="body"/>
          </p:nvPr>
        </p:nvSpPr>
        <p:spPr>
          <a:xfrm>
            <a:off x="457200" y="1130152"/>
            <a:ext cx="8229600" cy="3480000"/>
          </a:xfrm>
          <a:prstGeom prst="rect">
            <a:avLst/>
          </a:prstGeom>
        </p:spPr>
        <p:txBody>
          <a:bodyPr anchorCtr="0" anchor="t" bIns="47025" lIns="94100" spcFirstLastPara="1" rIns="94100" wrap="square" tIns="47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The Gap in Emergency Blood Access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Timely blood access remains one of the most fragile links in emergency healthcare in India.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Families rely on ad-hoc phone calls, WhatsApp broadcasts and social media appeals — slow, unstructured and unverifiable.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Emergency Blood Connector (EBC)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 full-stack MERN (MongoDB, Express.js, React, Node.js) web application connecting Donors, Requesters and Admins on a single platform.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Severity-based alerts (GREEN / YELLOW / RED / BLACK) automatically prioritise the most critical requests.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 two-step verified donation workflow eliminates false donation claims.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Gamified rewards — points, levels, badges — drive sustained donor engagement.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Built with React 19 &amp; Express.js 5; deployed on Vercel, Render and MongoDB Atlas.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2339eb39d_0_6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2339eb39d_0_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Bookman Old Style"/>
                <a:ea typeface="Bookman Old Style"/>
                <a:cs typeface="Bookman Old Style"/>
                <a:sym typeface="Bookman Old Style"/>
              </a:rPr>
              <a:t>Problem Statement</a:t>
            </a:r>
            <a:endParaRPr sz="1800"/>
          </a:p>
        </p:txBody>
      </p:sp>
      <p:sp>
        <p:nvSpPr>
          <p:cNvPr id="86" name="Google Shape;86;g3f2339eb39d_0_6"/>
          <p:cNvSpPr txBox="1"/>
          <p:nvPr>
            <p:ph idx="1" type="body"/>
          </p:nvPr>
        </p:nvSpPr>
        <p:spPr>
          <a:xfrm>
            <a:off x="457200" y="1130152"/>
            <a:ext cx="8229600" cy="3480000"/>
          </a:xfrm>
          <a:prstGeom prst="rect">
            <a:avLst/>
          </a:prstGeom>
        </p:spPr>
        <p:txBody>
          <a:bodyPr anchorCtr="0" anchor="t" bIns="47025" lIns="94100" spcFirstLastPara="1" rIns="94100" wrap="square" tIns="47025">
            <a:noAutofit/>
          </a:bodyPr>
          <a:lstStyle/>
          <a:p>
            <a:pPr indent="-285750" lvl="0" marL="285750" rtl="0" algn="l">
              <a:spcBef>
                <a:spcPts val="15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No centralised, filterable registry of donors by blood group, location and real-time availability.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5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Requesters must contact dozens of potential donors individually — most ineligible, unavailable or too far away.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5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Hospital-level donor lists are rarely digitised or accessible to the public.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5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No standard way to prioritise by medical urgency — critical cases get lost among routine appeals.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5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No verification that a donation actually took place — enabling double-booking and false claims.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5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Donors who consistently show up cannot be recognised or rewarded.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lang="en-US" sz="1450" b="1">
                <a:latin typeface="Arial"/>
                <a:ea typeface="Arial"/>
                <a:cs typeface="Arial"/>
                <a:sym typeface="Arial"/>
              </a:rPr>
              <a:t>EBC closes this gap with a structured, verifiable and prioritised digital platform.</a:t>
            </a:r>
            <a:endParaRPr sz="1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2339eb39d_0_6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2339eb39d_0_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Bookman Old Style"/>
                <a:ea typeface="Bookman Old Style"/>
                <a:cs typeface="Bookman Old Style"/>
                <a:sym typeface="Bookman Old Style"/>
              </a:rPr>
              <a:t>Objectives</a:t>
            </a:r>
            <a:endParaRPr sz="1800"/>
          </a:p>
        </p:txBody>
      </p:sp>
      <p:sp>
        <p:nvSpPr>
          <p:cNvPr id="86" name="Google Shape;86;g3f2339eb39d_0_6"/>
          <p:cNvSpPr txBox="1"/>
          <p:nvPr>
            <p:ph idx="1" type="body"/>
          </p:nvPr>
        </p:nvSpPr>
        <p:spPr>
          <a:xfrm>
            <a:off x="457200" y="1130152"/>
            <a:ext cx="8229600" cy="3480000"/>
          </a:xfrm>
          <a:prstGeom prst="rect">
            <a:avLst/>
          </a:prstGeom>
        </p:spPr>
        <p:txBody>
          <a:bodyPr anchorCtr="0" anchor="t" bIns="47025" lIns="94100" spcFirstLastPara="1" rIns="94100" wrap="square" tIns="47025">
            <a:noAutofit/>
          </a:bodyPr>
          <a:lstStyle/>
          <a:p>
            <a:pPr indent="-285750" lvl="0" marL="28575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AutoNum type="arabicPeriod"/>
            </a:pPr>
            <a:r>
              <a:rPr lang="en-US" sz="1250">
                <a:latin typeface="Arial"/>
                <a:ea typeface="Arial"/>
                <a:cs typeface="Arial"/>
                <a:sym typeface="Arial"/>
              </a:rPr>
              <a:t>Build a full-stack, role-based web application connecting donors, requesters and administrators on one platform.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AutoNum type="arabicPeriod"/>
            </a:pPr>
            <a:r>
              <a:rPr lang="en-US" sz="1250">
                <a:latin typeface="Arial"/>
                <a:ea typeface="Arial"/>
                <a:cs typeface="Arial"/>
                <a:sym typeface="Arial"/>
              </a:rPr>
              <a:t>Implement secure JWT authentication (HTTP-only cookies) with bcrypt password hashing and strict role-based access control.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AutoNum type="arabicPeriod"/>
            </a:pPr>
            <a:r>
              <a:rPr lang="en-US" sz="1250">
                <a:latin typeface="Arial"/>
                <a:ea typeface="Arial"/>
                <a:cs typeface="Arial"/>
                <a:sym typeface="Arial"/>
              </a:rPr>
              <a:t>Design an automatic blood-group compatibility engine so donors see only requests they are eligible to fulfil.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AutoNum type="arabicPeriod"/>
            </a:pPr>
            <a:r>
              <a:rPr lang="en-US" sz="1250">
                <a:latin typeface="Arial"/>
                <a:ea typeface="Arial"/>
                <a:cs typeface="Arial"/>
                <a:sym typeface="Arial"/>
              </a:rPr>
              <a:t>Implement a severity-based alert and priority scoring system (GREEN / YELLOW / RED / BLACK).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AutoNum type="arabicPeriod"/>
            </a:pPr>
            <a:r>
              <a:rPr lang="en-US" sz="1250">
                <a:latin typeface="Arial"/>
                <a:ea typeface="Arial"/>
                <a:cs typeface="Arial"/>
                <a:sym typeface="Arial"/>
              </a:rPr>
              <a:t>Build a two-step donation verification workflow — donor self-report followed by requester confirmation.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AutoNum type="arabicPeriod"/>
            </a:pPr>
            <a:r>
              <a:rPr lang="en-US" sz="1250">
                <a:latin typeface="Arial"/>
                <a:ea typeface="Arial"/>
                <a:cs typeface="Arial"/>
                <a:sym typeface="Arial"/>
              </a:rPr>
              <a:t>Design a gamified engagement system — points, six donor levels, milestone badges and a public leaderboard.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AutoNum type="arabicPeriod"/>
            </a:pPr>
            <a:r>
              <a:rPr lang="en-US" sz="1250">
                <a:latin typeface="Arial"/>
                <a:ea typeface="Arial"/>
                <a:cs typeface="Arial"/>
                <a:sym typeface="Arial"/>
              </a:rPr>
              <a:t>Provide administrators a dashboard for monitoring users, requests, donations and platform-wide analytics.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AutoNum type="arabicPeriod"/>
            </a:pPr>
            <a:r>
              <a:rPr lang="en-US" sz="1250">
                <a:latin typeface="Arial"/>
                <a:ea typeface="Arial"/>
                <a:cs typeface="Arial"/>
                <a:sym typeface="Arial"/>
              </a:rPr>
              <a:t>Develop a responsive, mobile-friendly UI using React 19, Tailwind CSS 4 and Redux Toolkit 2.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AutoNum type="arabicPeriod"/>
            </a:pPr>
            <a:r>
              <a:rPr lang="en-US" sz="1250">
                <a:latin typeface="Arial"/>
                <a:ea typeface="Arial"/>
                <a:cs typeface="Arial"/>
                <a:sym typeface="Arial"/>
              </a:rPr>
              <a:t>Deploy the complete application on cloud infrastructure — Vercel, Render and MongoDB Atlas.</a:t>
            </a:r>
            <a:endParaRPr sz="12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2339eb39d_0_6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2339eb39d_0_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Bookman Old Style"/>
                <a:ea typeface="Bookman Old Style"/>
                <a:cs typeface="Bookman Old Style"/>
                <a:sym typeface="Bookman Old Style"/>
              </a:rPr>
              <a:t>Scope of the Project</a:t>
            </a:r>
            <a:endParaRPr sz="1800"/>
          </a:p>
        </p:txBody>
      </p:sp>
      <p:sp>
        <p:nvSpPr>
          <p:cNvPr id="86" name="Google Shape;86;g3f2339eb39d_0_6"/>
          <p:cNvSpPr txBox="1"/>
          <p:nvPr>
            <p:ph idx="1" type="body"/>
          </p:nvPr>
        </p:nvSpPr>
        <p:spPr>
          <a:xfrm>
            <a:off x="457200" y="1130152"/>
            <a:ext cx="8229600" cy="3480000"/>
          </a:xfrm>
          <a:prstGeom prst="rect">
            <a:avLst/>
          </a:prstGeom>
        </p:spPr>
        <p:txBody>
          <a:bodyPr anchorCtr="0" anchor="t" bIns="47025" lIns="94100" spcFirstLastPara="1" rIns="94100" wrap="square" tIns="47025">
            <a:noAutofit/>
          </a:bodyPr>
          <a:lstStyle/>
          <a:p>
            <a:pPr indent="-285750" lvl="0" marL="285750" rtl="0" algn="l"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 xml:space="preserve">Registration &amp; Login: 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JWT authentication, bcrypt hashing, optional Cloudinary profile image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 xml:space="preserve">Blood Request Management: 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structured requests, auto-generated request numbers, priority score &amp; expiry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 xml:space="preserve">Donor Discovery &amp; Matching: 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state and blood-group filtered feed, sorted by priority score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 xml:space="preserve">Verified Donation Workflow: 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two-step confirmation before any reward is applied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 xml:space="preserve">Gamification: 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points, donor levels, badges and a public leaderboard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 xml:space="preserve">Notifications &amp; Admin Oversight: 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in-app alerts and a platform-wide analytics dashboard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Out of Scope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228600" lvl="0" marL="57150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</a:pPr>
            <a:r>
              <a:rPr lang="en-US" sz="1150">
                <a:latin typeface="Arial"/>
                <a:ea typeface="Arial"/>
                <a:cs typeface="Arial"/>
                <a:sym typeface="Arial"/>
              </a:rPr>
              <a:t>SMS / WhatsApp notifications, OTP mobile verification, email-based password reset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-228600" lvl="0" marL="57150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</a:pPr>
            <a:r>
              <a:rPr lang="en-US" sz="1150">
                <a:latin typeface="Arial"/>
                <a:ea typeface="Arial"/>
                <a:cs typeface="Arial"/>
                <a:sym typeface="Arial"/>
              </a:rPr>
              <a:t>Real-time (WebSocket) notification delivery, hospital verification workflow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-228600" lvl="0" marL="57150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</a:pPr>
            <a:r>
              <a:rPr lang="en-US" sz="1150">
                <a:latin typeface="Arial"/>
                <a:ea typeface="Arial"/>
                <a:cs typeface="Arial"/>
                <a:sym typeface="Arial"/>
              </a:rPr>
              <a:t>Native mobile application, payment gateway, multi-language support</a:t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2339eb39d_0_6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2339eb39d_0_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Bookman Old Style"/>
                <a:ea typeface="Bookman Old Style"/>
                <a:cs typeface="Bookman Old Style"/>
                <a:sym typeface="Bookman Old Style"/>
              </a:rPr>
              <a:t>Existing System</a:t>
            </a:r>
            <a:endParaRPr sz="1800"/>
          </a:p>
        </p:txBody>
      </p:sp>
      <p:sp>
        <p:nvSpPr>
          <p:cNvPr id="86" name="Google Shape;86;g3f2339eb39d_0_6"/>
          <p:cNvSpPr txBox="1"/>
          <p:nvPr>
            <p:ph idx="1" type="body"/>
          </p:nvPr>
        </p:nvSpPr>
        <p:spPr>
          <a:xfrm>
            <a:off x="457200" y="1130152"/>
            <a:ext cx="8229600" cy="3480000"/>
          </a:xfrm>
          <a:prstGeom prst="rect">
            <a:avLst/>
          </a:prstGeom>
        </p:spPr>
        <p:txBody>
          <a:bodyPr anchorCtr="0" anchor="t" bIns="47025" lIns="94100" spcFirstLastPara="1" rIns="94100" wrap="square" tIns="47025">
            <a:noAutofit/>
          </a:bodyPr>
          <a:lstStyle/>
          <a:p>
            <a:pPr indent="-285750" lvl="0" marL="285750" rtl="0" algn="l">
              <a:spcBef>
                <a:spcPts val="16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 xml:space="preserve">Manual &amp; Social-Media Outreach: 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no compatibility filtering or verification; repeated effort for every emergency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6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 xml:space="preserve">Hospital &amp; Blood Bank Registers: 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siloed, often paper-based, no public search interface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6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 xml:space="preserve">eRaktKosh (Govt. of India): 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inventory / blood-bank focused; no peer-to-peer request matching or gamification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6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 xml:space="preserve">Friends2Support: 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contact happens off-platform; no request lifecycle or donation verification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6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 xml:space="preserve">State / District Helplines: 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entirely manual matching; no persistent digital donor history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1550" b="1">
                <a:latin typeface="Arial"/>
                <a:ea typeface="Arial"/>
                <a:cs typeface="Arial"/>
                <a:sym typeface="Arial"/>
              </a:rPr>
              <a:t>Common gap: no existing platform unifies compatibility matching, urgency prioritisation and a verified donation lifecycle in one system.</a:t>
            </a:r>
            <a:endParaRPr sz="15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2339eb39d_0_6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2339eb39d_0_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Bookman Old Style"/>
                <a:ea typeface="Bookman Old Style"/>
                <a:cs typeface="Bookman Old Style"/>
                <a:sym typeface="Bookman Old Style"/>
              </a:rPr>
              <a:t>Proposed System</a:t>
            </a:r>
            <a:endParaRPr sz="1800"/>
          </a:p>
        </p:txBody>
      </p:sp>
      <p:sp>
        <p:nvSpPr>
          <p:cNvPr id="86" name="Google Shape;86;g3f2339eb39d_0_6"/>
          <p:cNvSpPr txBox="1"/>
          <p:nvPr>
            <p:ph idx="1" type="body"/>
          </p:nvPr>
        </p:nvSpPr>
        <p:spPr>
          <a:xfrm>
            <a:off x="457200" y="1130152"/>
            <a:ext cx="8229600" cy="3480000"/>
          </a:xfrm>
          <a:prstGeom prst="rect">
            <a:avLst/>
          </a:prstGeom>
        </p:spPr>
        <p:txBody>
          <a:bodyPr anchorCtr="0" anchor="t" bIns="47025" lIns="94100" spcFirstLastPara="1" rIns="94100" wrap="square" tIns="47025">
            <a:noAutofit/>
          </a:bodyPr>
          <a:lstStyle/>
          <a:p>
            <a:pPr indent="-285750" lvl="0" marL="285750" rtl="0" algn="l"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250">
                <a:latin typeface="Arial"/>
                <a:ea typeface="Arial"/>
                <a:cs typeface="Arial"/>
                <a:sym typeface="Arial"/>
              </a:rPr>
              <a:t>A unified, free, role-based platform combining real-time compatibility matching, urgency prioritisation, a verified donation lifecycle and gamified engagement.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250">
                <a:latin typeface="Arial"/>
                <a:ea typeface="Arial"/>
                <a:cs typeface="Arial"/>
                <a:sym typeface="Arial"/>
              </a:rPr>
              <a:t>Clean 3-tier client-server architecture: React 19 SPA (frontend) → Express.js 5 REST API (backend) → MongoDB via Mongoose 9 (data).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250">
                <a:latin typeface="Arial"/>
                <a:ea typeface="Arial"/>
                <a:cs typeface="Arial"/>
                <a:sym typeface="Arial"/>
              </a:rPr>
              <a:t>Severity-Based Alert &amp; Priority Engine — auto priority score and urgency-proportional expiry per request.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250">
                <a:latin typeface="Arial"/>
                <a:ea typeface="Arial"/>
                <a:cs typeface="Arial"/>
                <a:sym typeface="Arial"/>
              </a:rPr>
              <a:t>Blood Compatibility Engine — automatic donor-to-recipient matching, revalidated server-side.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250">
                <a:latin typeface="Arial"/>
                <a:ea typeface="Arial"/>
                <a:cs typeface="Arial"/>
                <a:sym typeface="Arial"/>
              </a:rPr>
              <a:t>Two-Step Verified Donation Workflow — prevents double-booking and false donation claims.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250">
                <a:latin typeface="Arial"/>
                <a:ea typeface="Arial"/>
                <a:cs typeface="Arial"/>
                <a:sym typeface="Arial"/>
              </a:rPr>
              <a:t>Gamification &amp; Notification Engines — points/levels/badges plus in-app alerts for every lifecycle event.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250">
                <a:latin typeface="Arial"/>
                <a:ea typeface="Arial"/>
                <a:cs typeface="Arial"/>
                <a:sym typeface="Arial"/>
              </a:rPr>
              <a:t>Administrative Analytics Engine — live blood-group, alert-level and state-wise distribution.</a:t>
            </a:r>
            <a:endParaRPr sz="12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2339eb39d_0_6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2339eb39d_0_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Bookman Old Style"/>
                <a:ea typeface="Bookman Old Style"/>
                <a:cs typeface="Bookman Old Style"/>
                <a:sym typeface="Bookman Old Style"/>
              </a:rPr>
              <a:t>Software &amp; Hardware Requirements</a:t>
            </a:r>
            <a:endParaRPr sz="1800"/>
          </a:p>
        </p:txBody>
      </p:sp>
      <p:sp>
        <p:nvSpPr>
          <p:cNvPr id="86" name="Google Shape;86;g3f2339eb39d_0_6"/>
          <p:cNvSpPr txBox="1"/>
          <p:nvPr>
            <p:ph idx="1" type="body"/>
          </p:nvPr>
        </p:nvSpPr>
        <p:spPr>
          <a:xfrm>
            <a:off x="457200" y="1130152"/>
            <a:ext cx="8229600" cy="3480000"/>
          </a:xfrm>
          <a:prstGeom prst="rect">
            <a:avLst/>
          </a:prstGeom>
        </p:spPr>
        <p:txBody>
          <a:bodyPr anchorCtr="0" anchor="t" bIns="47025" lIns="94100" spcFirstLastPara="1" rIns="94100" wrap="square" tIns="47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latin typeface="Arial"/>
                <a:ea typeface="Arial"/>
                <a:cs typeface="Arial"/>
                <a:sym typeface="Arial"/>
              </a:rPr>
              <a:t>Hardware Requirements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2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Processor: Intel Core i3 (min), i5+ recommended  |  RAM: 4 GB min, 8 GB recommended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2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Storage: 10 GB free space  |  Internet: broadband, 2 Mbps minimum  |  Display: 1366×768 minimum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2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Input: keyboard and mouse, or a touchscreen device for mobile access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50"/>
              </a:spcBef>
              <a:spcAft>
                <a:spcPts val="0"/>
              </a:spcAft>
              <a:buNone/>
            </a:pPr>
            <a:r>
              <a:rPr lang="en-US" sz="1250" b="1">
                <a:latin typeface="Arial"/>
                <a:ea typeface="Arial"/>
                <a:cs typeface="Arial"/>
                <a:sym typeface="Arial"/>
              </a:rPr>
              <a:t>Software Stack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2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Frontend: React 19.2, Vite 8, Tailwind CSS 4.3, Redux Toolkit 2.12, React Router 7.17, React Hook Form 7.79, Axios 1.17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2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Backend: Node.js 18+, Express.js 5.1, Mongoose 9.0, JWT 9.0.2, bcryptjs 3.0.2, Multer 2.2.0, Cloudinary 2.10.0, cookie-parser 1.4.7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2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Database &amp; Hosting: MongoDB Atlas (cloud)  |  Vercel (frontend)  |  Render (backend)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2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Dev Tools: VS Code, Google Chrome, npm 9+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2339eb39d_0_6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2339eb39d_0_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Bookman Old Style"/>
                <a:ea typeface="Bookman Old Style"/>
                <a:cs typeface="Bookman Old Style"/>
                <a:sym typeface="Bookman Old Style"/>
              </a:rPr>
              <a:t>System Design</a:t>
            </a:r>
            <a:endParaRPr sz="1800"/>
          </a:p>
        </p:txBody>
      </p:sp>
      <p:sp>
        <p:nvSpPr>
          <p:cNvPr id="86" name="Google Shape;86;g3f2339eb39d_0_6"/>
          <p:cNvSpPr txBox="1"/>
          <p:nvPr>
            <p:ph idx="1" type="body"/>
          </p:nvPr>
        </p:nvSpPr>
        <p:spPr>
          <a:xfrm>
            <a:off x="457200" y="1130152"/>
            <a:ext cx="8229600" cy="3480000"/>
          </a:xfrm>
          <a:prstGeom prst="rect">
            <a:avLst/>
          </a:prstGeom>
        </p:spPr>
        <p:txBody>
          <a:bodyPr anchorCtr="0" anchor="t" bIns="47025" lIns="94100" spcFirstLastPara="1" rIns="94100" wrap="square" tIns="47025">
            <a:noAutofit/>
          </a:bodyPr>
          <a:lstStyle/>
          <a:p>
            <a:pPr indent="-285750" lvl="0" marL="285750" rtl="0" algn="l">
              <a:spcBef>
                <a:spcPts val="14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350">
                <a:latin typeface="Arial"/>
                <a:ea typeface="Arial"/>
                <a:cs typeface="Arial"/>
                <a:sym typeface="Arial"/>
              </a:rPr>
              <a:t>Three-tier client-server architecture: React 19 SPA (presentation) → Express.js 5 REST API (application) → MongoDB via Mongoose (data).</a:t>
            </a:r>
            <a:endParaRPr sz="13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4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350">
                <a:latin typeface="Arial"/>
                <a:ea typeface="Arial"/>
                <a:cs typeface="Arial"/>
                <a:sym typeface="Arial"/>
              </a:rPr>
              <a:t>Every endpoint is namespaced by domain (/auth, /request-api, /donor-api, /notification-api, /admin-api) and JWT + role-protected, barring a few public read endpoints.</a:t>
            </a:r>
            <a:endParaRPr sz="13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750"/>
              </a:spcBef>
              <a:spcAft>
                <a:spcPts val="0"/>
              </a:spcAft>
              <a:buNone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Entity-Relationship Overview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228600" lvl="0" marL="571500" rtl="0" algn="l"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</a:pPr>
            <a:r>
              <a:rPr lang="en-US" sz="1250">
                <a:latin typeface="Arial"/>
                <a:ea typeface="Arial"/>
                <a:cs typeface="Arial"/>
                <a:sym typeface="Arial"/>
              </a:rPr>
              <a:t>User (1) → (N) BloodRequest — a requester creates many requests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228600" lvl="0" marL="571500" rtl="0" algn="l"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</a:pPr>
            <a:r>
              <a:rPr lang="en-US" sz="1250">
                <a:latin typeface="Arial"/>
                <a:ea typeface="Arial"/>
                <a:cs typeface="Arial"/>
                <a:sym typeface="Arial"/>
              </a:rPr>
              <a:t>User (1) → (N) Donation — a donor completes many donations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228600" lvl="0" marL="571500" rtl="0" algn="l"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</a:pPr>
            <a:r>
              <a:rPr lang="en-US" sz="1250">
                <a:latin typeface="Arial"/>
                <a:ea typeface="Arial"/>
                <a:cs typeface="Arial"/>
                <a:sym typeface="Arial"/>
              </a:rPr>
              <a:t>User (1) → (N) Notification — a user receives many notifications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228600" lvl="0" marL="571500" rtl="0" algn="l"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</a:pPr>
            <a:r>
              <a:rPr lang="en-US" sz="1250">
                <a:latin typeface="Arial"/>
                <a:ea typeface="Arial"/>
                <a:cs typeface="Arial"/>
                <a:sym typeface="Arial"/>
              </a:rPr>
              <a:t>BloodRequest (1) → (N) Donation — a request is fulfilled by many donations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350">
                <a:latin typeface="Arial"/>
                <a:ea typeface="Arial"/>
                <a:cs typeface="Arial"/>
                <a:sym typeface="Arial"/>
              </a:rPr>
              <a:t>Compound indexes on {role, isAvailable, state, bloodGroup} and {status, priorityScore} keep donor matching and the priority feed efficient at scale.</a:t>
            </a:r>
            <a:endParaRPr sz="13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2339eb39d_0_6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2339eb39d_0_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Bookman Old Style"/>
                <a:ea typeface="Bookman Old Style"/>
                <a:cs typeface="Bookman Old Style"/>
                <a:sym typeface="Bookman Old Style"/>
              </a:rPr>
              <a:t>Flowchart &amp; Algorithm</a:t>
            </a:r>
            <a:endParaRPr sz="1800"/>
          </a:p>
        </p:txBody>
      </p:sp>
      <p:sp>
        <p:nvSpPr>
          <p:cNvPr id="87" name="Google Shape;87;g3f2339eb39d_0_6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Oval 87"/>
          <p:cNvSpPr/>
          <p:nvPr/>
        </p:nvSpPr>
        <p:spPr>
          <a:xfrm>
            <a:off x="411480" y="1188720"/>
            <a:ext cx="402336" cy="402336"/>
          </a:xfrm>
          <a:prstGeom prst="ellipse">
            <a:avLst/>
          </a:prstGeom>
          <a:solidFill>
            <a:srgbClr val="CC00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0120" y="1143000"/>
            <a:ext cx="3063240" cy="8549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Arial"/>
              </a:rPr>
              <a:t>Create Request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404040"/>
                </a:solidFill>
                <a:latin typeface="Arial"/>
              </a:rPr>
              <a:t>Requester submits patient, hospital &amp; urgency details — priority score and expiry are calculated automatically at creation.</a:t>
            </a:r>
          </a:p>
        </p:txBody>
      </p:sp>
      <p:sp>
        <p:nvSpPr>
          <p:cNvPr id="90" name="Oval 89"/>
          <p:cNvSpPr/>
          <p:nvPr/>
        </p:nvSpPr>
        <p:spPr>
          <a:xfrm>
            <a:off x="411480" y="2043684"/>
            <a:ext cx="402336" cy="402336"/>
          </a:xfrm>
          <a:prstGeom prst="ellipse">
            <a:avLst/>
          </a:prstGeom>
          <a:solidFill>
            <a:srgbClr val="CC00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60120" y="1997964"/>
            <a:ext cx="3063240" cy="8549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Arial"/>
              </a:rPr>
              <a:t>Match &amp; Accept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404040"/>
                </a:solidFill>
                <a:latin typeface="Arial"/>
              </a:rPr>
              <a:t>Compatible, available donors in the same state see the request in their feed and accept it.</a:t>
            </a:r>
          </a:p>
        </p:txBody>
      </p:sp>
      <p:sp>
        <p:nvSpPr>
          <p:cNvPr id="92" name="Oval 91"/>
          <p:cNvSpPr/>
          <p:nvPr/>
        </p:nvSpPr>
        <p:spPr>
          <a:xfrm>
            <a:off x="411480" y="2898648"/>
            <a:ext cx="402336" cy="402336"/>
          </a:xfrm>
          <a:prstGeom prst="ellipse">
            <a:avLst/>
          </a:prstGeom>
          <a:solidFill>
            <a:srgbClr val="CC00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60120" y="2852928"/>
            <a:ext cx="3063240" cy="8549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Arial"/>
              </a:rPr>
              <a:t>Mark Donation Complete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404040"/>
                </a:solidFill>
                <a:latin typeface="Arial"/>
              </a:rPr>
              <a:t>Donor reports completion after donating — this creates a PENDING record; no rewards are applied yet.</a:t>
            </a:r>
          </a:p>
        </p:txBody>
      </p:sp>
      <p:sp>
        <p:nvSpPr>
          <p:cNvPr id="94" name="Oval 93"/>
          <p:cNvSpPr/>
          <p:nvPr/>
        </p:nvSpPr>
        <p:spPr>
          <a:xfrm>
            <a:off x="411480" y="3753612"/>
            <a:ext cx="402336" cy="402336"/>
          </a:xfrm>
          <a:prstGeom prst="ellipse">
            <a:avLst/>
          </a:prstGeom>
          <a:solidFill>
            <a:srgbClr val="CC00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60120" y="3707892"/>
            <a:ext cx="3063240" cy="8549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Arial"/>
              </a:rPr>
              <a:t>Requester Confirms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404040"/>
                </a:solidFill>
                <a:latin typeface="Arial"/>
              </a:rPr>
              <a:t>Points, donor level, badges and the 90-day cooldown are applied only after the requester confirms.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353653" y="1046988"/>
            <a:ext cx="2048573" cy="3346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7" name="Picture 96" descr="Flowchart diagram showing the Emergency Blood Connector request and donation lifecycle, from request creation through donor matching, acceptance, donation marking, and requester confirmation" title="Flowchart diagram showing the Emergency Blood Connector request and donation lifecycle, from request creation through donor matching, acceptance, donation marking, and requester confirm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3945" y="1097280"/>
            <a:ext cx="1947989" cy="3246120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4206240" y="4379976"/>
            <a:ext cx="4343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404040"/>
                </a:solidFill>
                <a:latin typeface="Arial"/>
              </a:rPr>
              <a:t>Figure 1: Blood Request and Verified Donation Lifecycle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2339eb39d_0_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Bookman Old Style"/>
                <a:ea typeface="Bookman Old Style"/>
                <a:cs typeface="Bookman Old Style"/>
                <a:sym typeface="Bookman Old Style"/>
              </a:rPr>
              <a:t>Flowchart &amp; Algorithm — Pseudocode Summary</a:t>
            </a:r>
            <a:endParaRPr sz="1800"/>
          </a:p>
        </p:txBody>
      </p:sp>
      <p:sp>
        <p:nvSpPr>
          <p:cNvPr id="86" name="Google Shape;86;g3f2339eb39d_0_6"/>
          <p:cNvSpPr txBox="1"/>
          <p:nvPr>
            <p:ph idx="1" type="body"/>
          </p:nvPr>
        </p:nvSpPr>
        <p:spPr>
          <a:xfrm>
            <a:off x="457200" y="1130152"/>
            <a:ext cx="8229600" cy="3480000"/>
          </a:xfrm>
          <a:prstGeom prst="rect">
            <a:avLst/>
          </a:prstGeom>
        </p:spPr>
        <p:txBody>
          <a:bodyPr anchorCtr="0" anchor="t" bIns="47025" lIns="94100" spcFirstLastPara="1" rIns="94100" wrap="square" tIns="47025">
            <a:noAutofit/>
          </a:bodyPr>
          <a:lstStyle/>
          <a:p>
            <a:pPr indent="-285750" lvl="0" marL="285750" rtl="0" algn="l"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 xml:space="preserve">Algorithm 1 — Request Creation: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priority score = alertLevelScore (GREEN:10, YELLOW:30, RED:60, BLACK:100) + unitsRequired; expiry set proportional to urgency (1–7 days)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 xml:space="preserve">Algorithm 2 — Donor Matching: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open requests filtered by state and blood-group compatibility, sorted by priority score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 xml:space="preserve">Algorithm 3 — Two-Step Donation: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accept → mark complete (PENDING) → requester confirms → points, level, badges &amp; 90-day cooldown applied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 xml:space="preserve">Algorithm 4 — Automatic Expiry: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lazy sweep flips overdue OPEN requests to EXPIRED on every read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 xml:space="preserve">Algorithm 5 — Admin Oversight: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activate/deactivate users, force-close requests, aggregate platform-wide statistics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2339eb39d_0_6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2339eb39d_0_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Bookman Old Style"/>
                <a:ea typeface="Bookman Old Style"/>
                <a:cs typeface="Bookman Old Style"/>
                <a:sym typeface="Bookman Old Style"/>
              </a:rPr>
              <a:t>Modules Description (1 of 2)</a:t>
            </a:r>
            <a:endParaRPr sz="1800"/>
          </a:p>
        </p:txBody>
      </p:sp>
      <p:sp>
        <p:nvSpPr>
          <p:cNvPr id="86" name="Google Shape;86;g3f2339eb39d_0_6"/>
          <p:cNvSpPr txBox="1"/>
          <p:nvPr>
            <p:ph idx="1" type="body"/>
          </p:nvPr>
        </p:nvSpPr>
        <p:spPr>
          <a:xfrm>
            <a:off x="457200" y="1130152"/>
            <a:ext cx="8229600" cy="3480000"/>
          </a:xfrm>
          <a:prstGeom prst="rect">
            <a:avLst/>
          </a:prstGeom>
        </p:spPr>
        <p:txBody>
          <a:bodyPr anchorCtr="0" anchor="t" bIns="47025" lIns="94100" spcFirstLastPara="1" rIns="94100" wrap="square" tIns="47025">
            <a:noAutofit/>
          </a:bodyPr>
          <a:lstStyle/>
          <a:p>
            <a:pPr indent="-285750" lvl="0" marL="28575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850" b="1">
                <a:latin typeface="Arial"/>
                <a:ea typeface="Arial"/>
                <a:cs typeface="Arial"/>
                <a:sym typeface="Arial"/>
              </a:rPr>
              <a:t xml:space="preserve">1. Authentication &amp; Profile Module: </a:t>
            </a:r>
            <a:r>
              <a:rPr lang="en-US" sz="1850">
                <a:latin typeface="Arial"/>
                <a:ea typeface="Arial"/>
                <a:cs typeface="Arial"/>
                <a:sym typeface="Arial"/>
              </a:rPr>
              <a:t>registration, login, JWT issuance, profile edit and password change via CommonAPI (/auth)</a:t>
            </a:r>
            <a:endParaRPr sz="18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850" b="1">
                <a:latin typeface="Arial"/>
                <a:ea typeface="Arial"/>
                <a:cs typeface="Arial"/>
                <a:sym typeface="Arial"/>
              </a:rPr>
              <a:t xml:space="preserve">2. Blood Request Management Module: </a:t>
            </a:r>
            <a:r>
              <a:rPr lang="en-US" sz="1850">
                <a:latin typeface="Arial"/>
                <a:ea typeface="Arial"/>
                <a:cs typeface="Arial"/>
                <a:sym typeface="Arial"/>
              </a:rPr>
              <a:t>create, edit, close, soft-delete requests; auto request numbers, priority &amp; expiry via RequestAPI</a:t>
            </a:r>
            <a:endParaRPr sz="18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850" b="1">
                <a:latin typeface="Arial"/>
                <a:ea typeface="Arial"/>
                <a:cs typeface="Arial"/>
                <a:sym typeface="Arial"/>
              </a:rPr>
              <a:t xml:space="preserve">3. Donor Matching &amp; Action Module: </a:t>
            </a:r>
            <a:r>
              <a:rPr lang="en-US" sz="1850">
                <a:latin typeface="Arial"/>
                <a:ea typeface="Arial"/>
                <a:cs typeface="Arial"/>
                <a:sym typeface="Arial"/>
              </a:rPr>
              <a:t>matched-requests feed, accept-request and complete-donation actions with full eligibility checks</a:t>
            </a:r>
            <a:endParaRPr sz="18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850" b="1">
                <a:latin typeface="Arial"/>
                <a:ea typeface="Arial"/>
                <a:cs typeface="Arial"/>
                <a:sym typeface="Arial"/>
              </a:rPr>
              <a:t xml:space="preserve">4. Donation Confirmation Module: </a:t>
            </a:r>
            <a:r>
              <a:rPr lang="en-US" sz="1850">
                <a:latin typeface="Arial"/>
                <a:ea typeface="Arial"/>
                <a:cs typeface="Arial"/>
                <a:sym typeface="Arial"/>
              </a:rPr>
              <a:t>requester/admin-only endpoint that atomically confirms a donation and applies all rewards</a:t>
            </a:r>
            <a:endParaRPr sz="18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2339eb39d_0_6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2339eb39d_0_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Bookman Old Style"/>
                <a:ea typeface="Bookman Old Style"/>
                <a:cs typeface="Bookman Old Style"/>
                <a:sym typeface="Bookman Old Style"/>
              </a:rPr>
              <a:t>Modules Description (2 of 2)</a:t>
            </a:r>
            <a:endParaRPr sz="1800"/>
          </a:p>
        </p:txBody>
      </p:sp>
      <p:sp>
        <p:nvSpPr>
          <p:cNvPr id="86" name="Google Shape;86;g3f2339eb39d_0_6"/>
          <p:cNvSpPr txBox="1"/>
          <p:nvPr>
            <p:ph idx="1" type="body"/>
          </p:nvPr>
        </p:nvSpPr>
        <p:spPr>
          <a:xfrm>
            <a:off x="457200" y="1130152"/>
            <a:ext cx="8229600" cy="3480000"/>
          </a:xfrm>
          <a:prstGeom prst="rect">
            <a:avLst/>
          </a:prstGeom>
        </p:spPr>
        <p:txBody>
          <a:bodyPr anchorCtr="0" anchor="t" bIns="47025" lIns="94100" spcFirstLastPara="1" rIns="94100" wrap="square" tIns="47025">
            <a:noAutofit/>
          </a:bodyPr>
          <a:lstStyle/>
          <a:p>
            <a:pPr indent="-285750" lvl="0" marL="285750" rtl="0" algn="l">
              <a:spcBef>
                <a:spcPts val="19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700" b="1">
                <a:latin typeface="Arial"/>
                <a:ea typeface="Arial"/>
                <a:cs typeface="Arial"/>
                <a:sym typeface="Arial"/>
              </a:rPr>
              <a:t xml:space="preserve">5. Gamification Module: 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calculatePoints, calculateLevel and calculateBadges utilities plus leaderboard &amp; rank endpoints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9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700" b="1">
                <a:latin typeface="Arial"/>
                <a:ea typeface="Arial"/>
                <a:cs typeface="Arial"/>
                <a:sym typeface="Arial"/>
              </a:rPr>
              <a:t xml:space="preserve">6. Notification Module: 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persists an in-app notification for every lifecycle event via a shared createNotification utility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9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700" b="1">
                <a:latin typeface="Arial"/>
                <a:ea typeface="Arial"/>
                <a:cs typeface="Arial"/>
                <a:sym typeface="Arial"/>
              </a:rPr>
              <a:t xml:space="preserve">7. Administrative Module: 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user/request management, account activation, and a statistics endpoint for platform analytics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550"/>
              </a:spcBef>
              <a:spcAft>
                <a:spcPts val="0"/>
              </a:spcAft>
              <a:buNone/>
            </a:pPr>
            <a:r>
              <a:rPr lang="en-US" sz="1750" b="1">
                <a:latin typeface="Arial"/>
                <a:ea typeface="Arial"/>
                <a:cs typeface="Arial"/>
                <a:sym typeface="Arial"/>
              </a:rPr>
              <a:t>Together, these seven modules keep route handlers focused on validation and data access while reusable business logic lives in a dedicated utils/ layer.</a:t>
            </a:r>
            <a:endParaRPr sz="17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2339eb39d_0_6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2339eb39d_0_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Bookman Old Style"/>
                <a:ea typeface="Bookman Old Style"/>
                <a:cs typeface="Bookman Old Style"/>
                <a:sym typeface="Bookman Old Style"/>
              </a:rPr>
              <a:t>Results / Output Screens — Public &amp; Authentication</a:t>
            </a:r>
            <a:endParaRPr sz="1800"/>
          </a:p>
        </p:txBody>
      </p:sp>
      <p:sp>
        <p:nvSpPr>
          <p:cNvPr id="86" name="Google Shape;86;g3f2339eb39d_0_6"/>
          <p:cNvSpPr txBox="1"/>
          <p:nvPr>
            <p:ph idx="1" type="body"/>
          </p:nvPr>
        </p:nvSpPr>
        <p:spPr>
          <a:xfrm>
            <a:off x="457200" y="1130152"/>
            <a:ext cx="8229600" cy="3480000"/>
          </a:xfrm>
          <a:prstGeom prst="rect">
            <a:avLst/>
          </a:prstGeom>
        </p:spPr>
        <p:txBody>
          <a:bodyPr anchorCtr="0" anchor="t" bIns="47025" lIns="94100" spcFirstLastPara="1" rIns="94100" wrap="square" tIns="470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>
                <a:latin typeface="Arial"/>
                <a:ea typeface="Arial"/>
                <a:cs typeface="Arial"/>
                <a:sym typeface="Arial"/>
              </a:rPr>
              <a:t xml:space="preserve"/>
            </a:r>
            <a:endParaRPr sz="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2339eb39d_0_6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11480" y="1133856"/>
            <a:ext cx="8321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>
                <a:solidFill>
                  <a:srgbClr val="303030"/>
                </a:solidFill>
                <a:latin typeface="Arial"/>
              </a:rPr>
              <a:t>The public landing page introduces the platform, while a standard email/password flow handles sign-in and account creation for both donors and requesters.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1188" y="2421100"/>
            <a:ext cx="2752344" cy="13117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Screenshot of the Emergency Blood Connector home page" title="Screenshot of the Emergency Blood Connector home p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471392"/>
            <a:ext cx="2651760" cy="1211127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411480" y="3746527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333333"/>
                </a:solidFill>
                <a:latin typeface="Arial"/>
              </a:rPr>
              <a:t>Fig. 2: Home Page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195828" y="2421100"/>
            <a:ext cx="2752344" cy="1293737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" name="Picture 92" descr="Screenshot of the login page" title="Screenshot of the login p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471392"/>
            <a:ext cx="2651760" cy="1193153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3246120" y="372855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333333"/>
                </a:solidFill>
                <a:latin typeface="Arial"/>
              </a:rPr>
              <a:t>Fig. 3: Login Page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030468" y="2421100"/>
            <a:ext cx="2752344" cy="130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Picture 95" descr="Screenshot of the registration page" title="Screenshot of the registration p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471392"/>
            <a:ext cx="2651760" cy="1201816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6080760" y="3737217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333333"/>
                </a:solidFill>
                <a:latin typeface="Arial"/>
              </a:rPr>
              <a:t>Fig. 4: Register Page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2339eb39d_0_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Bookman Old Style"/>
                <a:ea typeface="Bookman Old Style"/>
                <a:cs typeface="Bookman Old Style"/>
                <a:sym typeface="Bookman Old Style"/>
              </a:rPr>
              <a:t>Results / Output Screens — Donor Experience</a:t>
            </a:r>
            <a:endParaRPr sz="1800"/>
          </a:p>
        </p:txBody>
      </p:sp>
      <p:sp>
        <p:nvSpPr>
          <p:cNvPr id="86" name="Google Shape;86;g3f2339eb39d_0_6"/>
          <p:cNvSpPr txBox="1"/>
          <p:nvPr>
            <p:ph idx="1" type="body"/>
          </p:nvPr>
        </p:nvSpPr>
        <p:spPr>
          <a:xfrm>
            <a:off x="457200" y="1130152"/>
            <a:ext cx="8229600" cy="3480000"/>
          </a:xfrm>
          <a:prstGeom prst="rect">
            <a:avLst/>
          </a:prstGeom>
        </p:spPr>
        <p:txBody>
          <a:bodyPr anchorCtr="0" anchor="t" bIns="47025" lIns="94100" spcFirstLastPara="1" rIns="94100" wrap="square" tIns="470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>
                <a:latin typeface="Arial"/>
                <a:ea typeface="Arial"/>
                <a:cs typeface="Arial"/>
                <a:sym typeface="Arial"/>
              </a:rPr>
              <a:t xml:space="preserve"/>
            </a:r>
            <a:endParaRPr sz="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2339eb39d_0_6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11480" y="1133856"/>
            <a:ext cx="8321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>
                <a:solidFill>
                  <a:srgbClr val="303030"/>
                </a:solidFill>
                <a:latin typeface="Arial"/>
              </a:rPr>
              <a:t>Donors track their impact from a personal dashboard, browse open requests filtered to their blood group and state, and review their full donation history.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1188" y="2434234"/>
            <a:ext cx="2752344" cy="128544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Screenshot of the donor dashboard" title="Screenshot of the donor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484526"/>
            <a:ext cx="2651760" cy="118485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411480" y="3733393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333333"/>
                </a:solidFill>
                <a:latin typeface="Arial"/>
              </a:rPr>
              <a:t>Fig. 5: Donor Dashboard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195828" y="2434234"/>
            <a:ext cx="2752344" cy="129712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" name="Picture 92" descr="Screenshot of the open blood requests feed" title="Screenshot of the open blood requests fe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484526"/>
            <a:ext cx="2651760" cy="1196542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3246120" y="3745077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333333"/>
                </a:solidFill>
                <a:latin typeface="Arial"/>
              </a:rPr>
              <a:t>Fig. 7: Open Requests Feed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030468" y="2434234"/>
            <a:ext cx="2752344" cy="1292837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Picture 95" descr="Screenshot of the donation history page" title="Screenshot of the donation history p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484526"/>
            <a:ext cx="2651760" cy="1192253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6080760" y="374078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333333"/>
                </a:solidFill>
                <a:latin typeface="Arial"/>
              </a:rPr>
              <a:t>Fig. 10: Donation History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2339eb39d_0_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Bookman Old Style"/>
                <a:ea typeface="Bookman Old Style"/>
                <a:cs typeface="Bookman Old Style"/>
                <a:sym typeface="Bookman Old Style"/>
              </a:rPr>
              <a:t>Results / Output Screens — Requester Experience</a:t>
            </a:r>
            <a:endParaRPr sz="1800"/>
          </a:p>
        </p:txBody>
      </p:sp>
      <p:sp>
        <p:nvSpPr>
          <p:cNvPr id="86" name="Google Shape;86;g3f2339eb39d_0_6"/>
          <p:cNvSpPr txBox="1"/>
          <p:nvPr>
            <p:ph idx="1" type="body"/>
          </p:nvPr>
        </p:nvSpPr>
        <p:spPr>
          <a:xfrm>
            <a:off x="457200" y="1130152"/>
            <a:ext cx="8229600" cy="3480000"/>
          </a:xfrm>
          <a:prstGeom prst="rect">
            <a:avLst/>
          </a:prstGeom>
        </p:spPr>
        <p:txBody>
          <a:bodyPr anchorCtr="0" anchor="t" bIns="47025" lIns="94100" spcFirstLastPara="1" rIns="94100" wrap="square" tIns="470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>
                <a:latin typeface="Arial"/>
                <a:ea typeface="Arial"/>
                <a:cs typeface="Arial"/>
                <a:sym typeface="Arial"/>
              </a:rPr>
              <a:t xml:space="preserve"/>
            </a:r>
            <a:endParaRPr sz="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2339eb39d_0_6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11480" y="1133856"/>
            <a:ext cx="8321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>
                <a:solidFill>
                  <a:srgbClr val="303030"/>
                </a:solidFill>
                <a:latin typeface="Arial"/>
              </a:rPr>
              <a:t>Requesters manage their active and past requests from a dedicated dashboard, submit new emergencies through a structured form, and track each request's progress in detail.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1188" y="2428013"/>
            <a:ext cx="2752344" cy="1297885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Screenshot of the requester dashboard" title="Screenshot of the requester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478305"/>
            <a:ext cx="2651760" cy="1197301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411480" y="373961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333333"/>
                </a:solidFill>
                <a:latin typeface="Arial"/>
              </a:rPr>
              <a:t>Fig. 6: Requester Dashboard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195828" y="2428013"/>
            <a:ext cx="2752344" cy="184767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" name="Picture 92" descr="Screenshot of the create blood request form" title="Screenshot of the create blood request for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478305"/>
            <a:ext cx="2651760" cy="174709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3246120" y="4289403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333333"/>
                </a:solidFill>
                <a:latin typeface="Arial"/>
              </a:rPr>
              <a:t>Fig. 8: Create Request Form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030468" y="2428013"/>
            <a:ext cx="2752344" cy="1504619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Picture 95" descr="Screenshot of the request detail page" title="Screenshot of the request detail p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478305"/>
            <a:ext cx="2651760" cy="1404035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6080760" y="394634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333333"/>
                </a:solidFill>
                <a:latin typeface="Arial"/>
              </a:rPr>
              <a:t>Fig. 9: Request Detail Page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2339eb39d_0_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Bookman Old Style"/>
                <a:ea typeface="Bookman Old Style"/>
                <a:cs typeface="Bookman Old Style"/>
                <a:sym typeface="Bookman Old Style"/>
              </a:rPr>
              <a:t>Results / Output Screens — Engagement &amp; Rewards</a:t>
            </a:r>
            <a:endParaRPr sz="1800"/>
          </a:p>
        </p:txBody>
      </p:sp>
      <p:sp>
        <p:nvSpPr>
          <p:cNvPr id="86" name="Google Shape;86;g3f2339eb39d_0_6"/>
          <p:cNvSpPr txBox="1"/>
          <p:nvPr>
            <p:ph idx="1" type="body"/>
          </p:nvPr>
        </p:nvSpPr>
        <p:spPr>
          <a:xfrm>
            <a:off x="457200" y="1130152"/>
            <a:ext cx="8229600" cy="3480000"/>
          </a:xfrm>
          <a:prstGeom prst="rect">
            <a:avLst/>
          </a:prstGeom>
        </p:spPr>
        <p:txBody>
          <a:bodyPr anchorCtr="0" anchor="t" bIns="47025" lIns="94100" spcFirstLastPara="1" rIns="94100" wrap="square" tIns="470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>
                <a:latin typeface="Arial"/>
                <a:ea typeface="Arial"/>
                <a:cs typeface="Arial"/>
                <a:sym typeface="Arial"/>
              </a:rPr>
              <a:t xml:space="preserve"/>
            </a:r>
            <a:endParaRPr sz="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2339eb39d_0_6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11480" y="1133856"/>
            <a:ext cx="8321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>
                <a:solidFill>
                  <a:srgbClr val="303030"/>
                </a:solidFill>
                <a:latin typeface="Arial"/>
              </a:rPr>
              <a:t>The gamification layer keeps donors motivated — milestone badges, a level and achievement tracker, and a public leaderboard ranking the platform's top contributors.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1188" y="2421657"/>
            <a:ext cx="2752344" cy="1310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Screenshot of the badges page" title="Screenshot of the badges p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471949"/>
            <a:ext cx="2651760" cy="1210012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411480" y="374597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333333"/>
                </a:solidFill>
                <a:latin typeface="Arial"/>
              </a:rPr>
              <a:t>Fig. 11: Badges Page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195828" y="2421657"/>
            <a:ext cx="2752344" cy="175084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" name="Picture 92" descr="Screenshot of the achievements page" title="Screenshot of the achievements p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471949"/>
            <a:ext cx="2651760" cy="165026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3246120" y="418621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333333"/>
                </a:solidFill>
                <a:latin typeface="Arial"/>
              </a:rPr>
              <a:t>Fig. 12: Achievements Page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030468" y="2421657"/>
            <a:ext cx="2752344" cy="121631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Picture 95" descr="Screenshot of the leaderboard page" title="Screenshot of the leaderboard p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471949"/>
            <a:ext cx="2651760" cy="1115730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6080760" y="3651687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333333"/>
                </a:solidFill>
                <a:latin typeface="Arial"/>
              </a:rPr>
              <a:t>Fig. 13: Leaderboard Page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2339eb39d_0_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Bookman Old Style"/>
                <a:ea typeface="Bookman Old Style"/>
                <a:cs typeface="Bookman Old Style"/>
                <a:sym typeface="Bookman Old Style"/>
              </a:rPr>
              <a:t>Results / Output Screens — Notifications &amp; Admin Overview</a:t>
            </a:r>
            <a:endParaRPr sz="1800"/>
          </a:p>
        </p:txBody>
      </p:sp>
      <p:sp>
        <p:nvSpPr>
          <p:cNvPr id="86" name="Google Shape;86;g3f2339eb39d_0_6"/>
          <p:cNvSpPr txBox="1"/>
          <p:nvPr>
            <p:ph idx="1" type="body"/>
          </p:nvPr>
        </p:nvSpPr>
        <p:spPr>
          <a:xfrm>
            <a:off x="457200" y="1130152"/>
            <a:ext cx="8229600" cy="3480000"/>
          </a:xfrm>
          <a:prstGeom prst="rect">
            <a:avLst/>
          </a:prstGeom>
        </p:spPr>
        <p:txBody>
          <a:bodyPr anchorCtr="0" anchor="t" bIns="47025" lIns="94100" spcFirstLastPara="1" rIns="94100" wrap="square" tIns="470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>
                <a:latin typeface="Arial"/>
                <a:ea typeface="Arial"/>
                <a:cs typeface="Arial"/>
                <a:sym typeface="Arial"/>
              </a:rPr>
              <a:t xml:space="preserve"/>
            </a:r>
            <a:endParaRPr sz="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2339eb39d_0_6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11480" y="1133856"/>
            <a:ext cx="8321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>
                <a:solidFill>
                  <a:srgbClr val="303030"/>
                </a:solidFill>
                <a:latin typeface="Arial"/>
              </a:rPr>
              <a:t>Every lifecycle event — acceptance, confirmation, badge earned — raises an in-app notification, while administrators get a live, platform-wide summary on login.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1188" y="2110855"/>
            <a:ext cx="4169664" cy="1932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Screenshot of the notifications page" title="Screenshot of the notifications p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61147"/>
            <a:ext cx="4069080" cy="1831617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411480" y="4056772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333333"/>
                </a:solidFill>
                <a:latin typeface="Arial"/>
              </a:rPr>
              <a:t>Fig. 14: Notifications Page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613148" y="2110855"/>
            <a:ext cx="4169664" cy="1918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" name="Picture 92" descr="Screenshot of the admin dashboard" title="Screenshot of the admin 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161147"/>
            <a:ext cx="4069080" cy="1818144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4663440" y="4043300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333333"/>
                </a:solidFill>
                <a:latin typeface="Arial"/>
              </a:rPr>
              <a:t>Fig. 15: Admin Dashboard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2339eb39d_0_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Bookman Old Style"/>
                <a:ea typeface="Bookman Old Style"/>
                <a:cs typeface="Bookman Old Style"/>
                <a:sym typeface="Bookman Old Style"/>
              </a:rPr>
              <a:t>Results / Output Screens — Admin Management</a:t>
            </a:r>
            <a:endParaRPr sz="1800"/>
          </a:p>
        </p:txBody>
      </p:sp>
      <p:sp>
        <p:nvSpPr>
          <p:cNvPr id="86" name="Google Shape;86;g3f2339eb39d_0_6"/>
          <p:cNvSpPr txBox="1"/>
          <p:nvPr>
            <p:ph idx="1" type="body"/>
          </p:nvPr>
        </p:nvSpPr>
        <p:spPr>
          <a:xfrm>
            <a:off x="457200" y="1130152"/>
            <a:ext cx="8229600" cy="3480000"/>
          </a:xfrm>
          <a:prstGeom prst="rect">
            <a:avLst/>
          </a:prstGeom>
        </p:spPr>
        <p:txBody>
          <a:bodyPr anchorCtr="0" anchor="t" bIns="47025" lIns="94100" spcFirstLastPara="1" rIns="94100" wrap="square" tIns="470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>
                <a:latin typeface="Arial"/>
                <a:ea typeface="Arial"/>
                <a:cs typeface="Arial"/>
                <a:sym typeface="Arial"/>
              </a:rPr>
              <a:t xml:space="preserve"/>
            </a:r>
            <a:endParaRPr sz="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2339eb39d_0_6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11480" y="1133856"/>
            <a:ext cx="8321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>
                <a:solidFill>
                  <a:srgbClr val="303030"/>
                </a:solidFill>
                <a:latin typeface="Arial"/>
              </a:rPr>
              <a:t>Administrators can manage user accounts, force-close or review any blood request, and drill into platform-wide statistics across blood groups, urgency and geography.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1188" y="2430778"/>
            <a:ext cx="2752344" cy="1292355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Screenshot of the admin user management page" title="Screenshot of the admin user management p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481070"/>
            <a:ext cx="2651760" cy="1191771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411480" y="3736849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333333"/>
                </a:solidFill>
                <a:latin typeface="Arial"/>
              </a:rPr>
              <a:t>Fig. 16: Admin User Mgmt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195828" y="2430778"/>
            <a:ext cx="2752344" cy="12860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" name="Picture 92" descr="Screenshot of the admin request management page" title="Screenshot of the admin request management p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481070"/>
            <a:ext cx="2651760" cy="1185476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3246120" y="373055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333333"/>
                </a:solidFill>
                <a:latin typeface="Arial"/>
              </a:rPr>
              <a:t>Fig. 17: Admin Request Mgmt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030468" y="2430778"/>
            <a:ext cx="2752344" cy="12992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Picture 95" descr="Screenshot of the admin statistics page" title="Screenshot of the admin statistics p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481070"/>
            <a:ext cx="2651760" cy="1198684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6080760" y="374376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333333"/>
                </a:solidFill>
                <a:latin typeface="Arial"/>
              </a:rPr>
              <a:t>Fig. 18: Admin Statistics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2339eb39d_0_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Bookman Old Style"/>
                <a:ea typeface="Bookman Old Style"/>
                <a:cs typeface="Bookman Old Style"/>
                <a:sym typeface="Bookman Old Style"/>
              </a:rPr>
              <a:t>Advantages &amp; Limitations</a:t>
            </a:r>
            <a:endParaRPr sz="1800"/>
          </a:p>
        </p:txBody>
      </p:sp>
      <p:sp>
        <p:nvSpPr>
          <p:cNvPr id="86" name="Google Shape;86;g3f2339eb39d_0_6"/>
          <p:cNvSpPr txBox="1"/>
          <p:nvPr>
            <p:ph idx="1" type="body"/>
          </p:nvPr>
        </p:nvSpPr>
        <p:spPr>
          <a:xfrm>
            <a:off x="457200" y="1130152"/>
            <a:ext cx="8229600" cy="3480000"/>
          </a:xfrm>
          <a:prstGeom prst="rect">
            <a:avLst/>
          </a:prstGeom>
        </p:spPr>
        <p:txBody>
          <a:bodyPr anchorCtr="0" anchor="t" bIns="47025" lIns="94100" spcFirstLastPara="1" rIns="94100" wrap="square" tIns="47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1">
                <a:latin typeface="Arial"/>
                <a:ea typeface="Arial"/>
                <a:cs typeface="Arial"/>
                <a:sym typeface="Arial"/>
              </a:rPr>
              <a:t>Advantages</a:t>
            </a:r>
            <a:endParaRPr sz="15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250">
                <a:latin typeface="Arial"/>
                <a:ea typeface="Arial"/>
                <a:cs typeface="Arial"/>
                <a:sym typeface="Arial"/>
              </a:rPr>
              <a:t>Free and open — no cost or licensing barriers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250">
                <a:latin typeface="Arial"/>
                <a:ea typeface="Arial"/>
                <a:cs typeface="Arial"/>
                <a:sym typeface="Arial"/>
              </a:rPr>
              <a:t>Automatic compatibility filtering eliminates wasted outreach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250">
                <a:latin typeface="Arial"/>
                <a:ea typeface="Arial"/>
                <a:cs typeface="Arial"/>
                <a:sym typeface="Arial"/>
              </a:rPr>
              <a:t>Severity-based prioritisation surfaces critical cases first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250">
                <a:latin typeface="Arial"/>
                <a:ea typeface="Arial"/>
                <a:cs typeface="Arial"/>
                <a:sym typeface="Arial"/>
              </a:rPr>
              <a:t>Two-step verification prevents double-booking &amp; false claims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250">
                <a:latin typeface="Arial"/>
                <a:ea typeface="Arial"/>
                <a:cs typeface="Arial"/>
                <a:sym typeface="Arial"/>
              </a:rPr>
              <a:t>Gamification drives long-term donor retention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750"/>
              </a:spcBef>
              <a:spcAft>
                <a:spcPts val="0"/>
              </a:spcAft>
              <a:buNone/>
            </a:pPr>
            <a:r>
              <a:rPr lang="en-US" sz="1550" b="1">
                <a:latin typeface="Arial"/>
                <a:ea typeface="Arial"/>
                <a:cs typeface="Arial"/>
                <a:sym typeface="Arial"/>
              </a:rPr>
              <a:t>Limitations</a:t>
            </a:r>
            <a:endParaRPr sz="15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250">
                <a:latin typeface="Arial"/>
                <a:ea typeface="Arial"/>
                <a:cs typeface="Arial"/>
                <a:sym typeface="Arial"/>
              </a:rPr>
              <a:t>In-app notifications only — no SMS / WhatsApp / push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250">
                <a:latin typeface="Arial"/>
                <a:ea typeface="Arial"/>
                <a:cs typeface="Arial"/>
                <a:sym typeface="Arial"/>
              </a:rPr>
              <a:t>No OTP verification or email-based password reset yet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250">
                <a:latin typeface="Arial"/>
                <a:ea typeface="Arial"/>
                <a:cs typeface="Arial"/>
                <a:sym typeface="Arial"/>
              </a:rPr>
              <a:t>No native mobile app or automated test suite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250">
                <a:latin typeface="Arial"/>
                <a:ea typeface="Arial"/>
                <a:cs typeface="Arial"/>
                <a:sym typeface="Arial"/>
              </a:rPr>
              <a:t>Matching is state-level, not precise geolocation</a:t>
            </a:r>
            <a:endParaRPr sz="12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2339eb39d_0_6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2339eb39d_0_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Bookman Old Style"/>
                <a:ea typeface="Bookman Old Style"/>
                <a:cs typeface="Bookman Old Style"/>
                <a:sym typeface="Bookman Old Style"/>
              </a:rPr>
              <a:t>Future Enhancements</a:t>
            </a:r>
            <a:endParaRPr sz="1800"/>
          </a:p>
        </p:txBody>
      </p:sp>
      <p:sp>
        <p:nvSpPr>
          <p:cNvPr id="86" name="Google Shape;86;g3f2339eb39d_0_6"/>
          <p:cNvSpPr txBox="1"/>
          <p:nvPr>
            <p:ph idx="1" type="body"/>
          </p:nvPr>
        </p:nvSpPr>
        <p:spPr>
          <a:xfrm>
            <a:off x="457200" y="1130152"/>
            <a:ext cx="8229600" cy="3480000"/>
          </a:xfrm>
          <a:prstGeom prst="rect">
            <a:avLst/>
          </a:prstGeom>
        </p:spPr>
        <p:txBody>
          <a:bodyPr anchorCtr="0" anchor="t" bIns="47025" lIns="94100" spcFirstLastPara="1" rIns="94100" wrap="square" tIns="47025">
            <a:noAutofit/>
          </a:bodyPr>
          <a:lstStyle/>
          <a:p>
            <a:pPr indent="-285750" lvl="0" marL="285750" rtl="0" algn="l"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AutoNum type="arabicPeriod"/>
            </a:pPr>
            <a:r>
              <a:rPr lang="en-US" sz="1550">
                <a:latin typeface="Arial"/>
                <a:ea typeface="Arial"/>
                <a:cs typeface="Arial"/>
                <a:sym typeface="Arial"/>
              </a:rPr>
              <a:t>Email &amp; SMS Notifications — alert users even when not actively on the app</a:t>
            </a:r>
            <a:endParaRPr sz="15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AutoNum type="arabicPeriod"/>
            </a:pPr>
            <a:r>
              <a:rPr lang="en-US" sz="1550">
                <a:latin typeface="Arial"/>
                <a:ea typeface="Arial"/>
                <a:cs typeface="Arial"/>
                <a:sym typeface="Arial"/>
              </a:rPr>
              <a:t>OTP-Based Verification — stronger identity assurance at registration</a:t>
            </a:r>
            <a:endParaRPr sz="15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AutoNum type="arabicPeriod"/>
            </a:pPr>
            <a:r>
              <a:rPr lang="en-US" sz="1550">
                <a:latin typeface="Arial"/>
                <a:ea typeface="Arial"/>
                <a:cs typeface="Arial"/>
                <a:sym typeface="Arial"/>
              </a:rPr>
              <a:t>Email-Based Password Reset — remove dependency on an authenticated session</a:t>
            </a:r>
            <a:endParaRPr sz="15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AutoNum type="arabicPeriod"/>
            </a:pPr>
            <a:r>
              <a:rPr lang="en-US" sz="1550">
                <a:latin typeface="Arial"/>
                <a:ea typeface="Arial"/>
                <a:cs typeface="Arial"/>
                <a:sym typeface="Arial"/>
              </a:rPr>
              <a:t>Hospital Verification Workflow — activate the existing isHospitalVerified flag</a:t>
            </a:r>
            <a:endParaRPr sz="15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AutoNum type="arabicPeriod"/>
            </a:pPr>
            <a:r>
              <a:rPr lang="en-US" sz="1550">
                <a:latin typeface="Arial"/>
                <a:ea typeface="Arial"/>
                <a:cs typeface="Arial"/>
                <a:sym typeface="Arial"/>
              </a:rPr>
              <a:t>Real-Time Notifications — WebSocket-based push delivery</a:t>
            </a:r>
            <a:endParaRPr sz="15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AutoNum type="arabicPeriod"/>
            </a:pPr>
            <a:r>
              <a:rPr lang="en-US" sz="1550">
                <a:latin typeface="Arial"/>
                <a:ea typeface="Arial"/>
                <a:cs typeface="Arial"/>
                <a:sym typeface="Arial"/>
              </a:rPr>
              <a:t>Native Mobile Application — React Native apps for Android &amp; iOS</a:t>
            </a:r>
            <a:endParaRPr sz="15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AutoNum type="arabicPeriod"/>
            </a:pPr>
            <a:r>
              <a:rPr lang="en-US" sz="1550">
                <a:latin typeface="Arial"/>
                <a:ea typeface="Arial"/>
                <a:cs typeface="Arial"/>
                <a:sym typeface="Arial"/>
              </a:rPr>
              <a:t>Geolocation-Based Matching — distance-based donor-requester matching</a:t>
            </a:r>
            <a:endParaRPr sz="15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AutoNum type="arabicPeriod"/>
            </a:pPr>
            <a:r>
              <a:rPr lang="en-US" sz="1550">
                <a:latin typeface="Arial"/>
                <a:ea typeface="Arial"/>
                <a:cs typeface="Arial"/>
                <a:sym typeface="Arial"/>
              </a:rPr>
              <a:t>Blood Bank / Hospital Integration — surface institutional stock alongside donor matches</a:t>
            </a:r>
            <a:endParaRPr sz="15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2339eb39d_0_6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2339eb39d_0_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Bookman Old Style"/>
                <a:ea typeface="Bookman Old Style"/>
                <a:cs typeface="Bookman Old Style"/>
                <a:sym typeface="Bookman Old Style"/>
              </a:rPr>
              <a:t>Conclusion</a:t>
            </a:r>
            <a:endParaRPr sz="1800"/>
          </a:p>
        </p:txBody>
      </p:sp>
      <p:sp>
        <p:nvSpPr>
          <p:cNvPr id="86" name="Google Shape;86;g3f2339eb39d_0_6"/>
          <p:cNvSpPr txBox="1"/>
          <p:nvPr>
            <p:ph idx="1" type="body"/>
          </p:nvPr>
        </p:nvSpPr>
        <p:spPr>
          <a:xfrm>
            <a:off x="457200" y="1130152"/>
            <a:ext cx="8229600" cy="3480000"/>
          </a:xfrm>
          <a:prstGeom prst="rect">
            <a:avLst/>
          </a:prstGeom>
        </p:spPr>
        <p:txBody>
          <a:bodyPr anchorCtr="0" anchor="t" bIns="47025" lIns="94100" spcFirstLastPara="1" rIns="94100" wrap="square" tIns="47025">
            <a:noAutofit/>
          </a:bodyPr>
          <a:lstStyle/>
          <a:p>
            <a:pPr indent="-285750" lvl="0" marL="285750" rtl="0" algn="l">
              <a:spcBef>
                <a:spcPts val="1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550">
                <a:latin typeface="Arial"/>
                <a:ea typeface="Arial"/>
                <a:cs typeface="Arial"/>
                <a:sym typeface="Arial"/>
              </a:rPr>
              <a:t>Emergency Blood Connector addresses a real, persistent gap in India's emergency healthcare ecosystem by connecting donors directly with patients in need.</a:t>
            </a:r>
            <a:endParaRPr sz="15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550">
                <a:latin typeface="Arial"/>
                <a:ea typeface="Arial"/>
                <a:cs typeface="Arial"/>
                <a:sym typeface="Arial"/>
              </a:rPr>
              <a:t>Automatic compatibility matching, severity-based prioritisation and a two-step verified donation workflow ensure critical requests are surfaced first and rewards are only ever applied to genuine donations.</a:t>
            </a:r>
            <a:endParaRPr sz="15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550">
                <a:latin typeface="Arial"/>
                <a:ea typeface="Arial"/>
                <a:cs typeface="Arial"/>
                <a:sym typeface="Arial"/>
              </a:rPr>
              <a:t>A full gamification layer — points, levels, badges, leaderboard — targets the repeat-donor retention problem that most existing solutions leave unaddressed.</a:t>
            </a:r>
            <a:endParaRPr sz="15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550">
                <a:latin typeface="Arial"/>
                <a:ea typeface="Arial"/>
                <a:cs typeface="Arial"/>
                <a:sym typeface="Arial"/>
              </a:rPr>
              <a:t>Built on a modern, actively maintained MERN stack and deployed on Vercel, Render and MongoDB Atlas, the project demonstrates practical full-stack development and business-logic-driven system design applied to a genuinely high-stakes problem.</a:t>
            </a:r>
            <a:endParaRPr sz="15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2339eb39d_0_6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2339eb39d_0_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Bookman Old Style"/>
                <a:ea typeface="Bookman Old Style"/>
                <a:cs typeface="Bookman Old Style"/>
                <a:sym typeface="Bookman Old Style"/>
              </a:rPr>
              <a:t>Live Deployment &amp; Repository</a:t>
            </a:r>
            <a:endParaRPr sz="1800"/>
          </a:p>
        </p:txBody>
      </p:sp>
      <p:sp>
        <p:nvSpPr>
          <p:cNvPr id="86" name="Google Shape;86;g3f2339eb39d_0_6"/>
          <p:cNvSpPr txBox="1"/>
          <p:nvPr>
            <p:ph idx="1" type="body"/>
          </p:nvPr>
        </p:nvSpPr>
        <p:spPr>
          <a:xfrm>
            <a:off x="457200" y="1130152"/>
            <a:ext cx="8229600" cy="3480000"/>
          </a:xfrm>
          <a:prstGeom prst="rect">
            <a:avLst/>
          </a:prstGeom>
        </p:spPr>
        <p:txBody>
          <a:bodyPr anchorCtr="0" anchor="t" bIns="47025" lIns="94100" spcFirstLastPara="1" rIns="94100" wrap="square" tIns="47025">
            <a:noAutofit/>
          </a:bodyPr>
          <a:lstStyle/>
          <a:p>
            <a:pPr indent="-285750" lvl="0" marL="285750" rtl="0" algn="l">
              <a:spcBef>
                <a:spcPts val="175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Char char="•"/>
            </a:pPr>
            <a:r>
              <a:rPr lang="en-US" sz="1700" b="1">
                <a:latin typeface="Arial"/>
                <a:ea typeface="Arial"/>
                <a:cs typeface="Arial"/>
                <a:sym typeface="Arial"/>
              </a:rPr>
              <a:t xml:space="preserve">Frontend: 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 xml:space="preserve">deployed on Vercel — </a:t>
            </a:r>
            <a:r>
              <a:rPr lang="en-US" sz="1700" u="sng">
                <a:solidFill>
                  <a:srgbClr val="0045B5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emergency-blood-connector-lilac.vercel.app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75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Char char="•"/>
            </a:pPr>
            <a:r>
              <a:rPr lang="en-US" sz="1700" b="1">
                <a:latin typeface="Arial"/>
                <a:ea typeface="Arial"/>
                <a:cs typeface="Arial"/>
                <a:sym typeface="Arial"/>
              </a:rPr>
              <a:t xml:space="preserve">Backend: 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 xml:space="preserve">deployed on Render — </a:t>
            </a:r>
            <a:r>
              <a:rPr lang="en-US" sz="1700" u="sng">
                <a:solidFill>
                  <a:srgbClr val="0045B5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emergency-blood-connector-kbw2.onrender.com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75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Char char="•"/>
            </a:pPr>
            <a:r>
              <a:rPr lang="en-US" sz="1700" b="1">
                <a:latin typeface="Arial"/>
                <a:ea typeface="Arial"/>
                <a:cs typeface="Arial"/>
                <a:sym typeface="Arial"/>
              </a:rPr>
              <a:t xml:space="preserve">Database: 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MongoDB Atlas (cloud)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175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Char char="•"/>
            </a:pPr>
            <a:r>
              <a:rPr lang="en-US" sz="1700" b="1">
                <a:latin typeface="Arial"/>
                <a:ea typeface="Arial"/>
                <a:cs typeface="Arial"/>
                <a:sym typeface="Arial"/>
              </a:rPr>
              <a:t xml:space="preserve">Source Code: </a:t>
            </a:r>
            <a:r>
              <a:rPr lang="en-US" sz="1700" u="sng">
                <a:solidFill>
                  <a:srgbClr val="0045B5"/>
                </a:solidFill>
                <a:latin typeface="Arial"/>
                <a:ea typeface="Arial"/>
                <a:cs typeface="Arial"/>
                <a:sym typeface="Arial"/>
                <a:hlinkClick r:id="rId2"/>
              </a:rPr>
              <a:t>github.com/SreeshwanMaralakshikari/Emergency_Blood_Connector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700"/>
              </a:spcBef>
              <a:spcAft>
                <a:spcPts val="0"/>
              </a:spcAft>
              <a:buNone/>
            </a:pPr>
            <a:r>
              <a:rPr lang="en-US" sz="1650" b="1">
                <a:latin typeface="Arial"/>
                <a:ea typeface="Arial"/>
                <a:cs typeface="Arial"/>
                <a:sym typeface="Arial"/>
              </a:rPr>
              <a:t>Every feature described in this presentation — from blood-group compatibility filtering to the donation confirmation workflow — exists as working, tested and deployed code, rather than as a proposed or partially implemented feature.</a:t>
            </a:r>
            <a:endParaRPr sz="16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2339eb39d_0_6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2339eb39d_0_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Bookman Old Style"/>
                <a:ea typeface="Bookman Old Style"/>
                <a:cs typeface="Bookman Old Style"/>
                <a:sym typeface="Bookman Old Style"/>
              </a:rPr>
              <a:t>References</a:t>
            </a:r>
            <a:endParaRPr sz="1800"/>
          </a:p>
        </p:txBody>
      </p:sp>
      <p:sp>
        <p:nvSpPr>
          <p:cNvPr id="86" name="Google Shape;86;g3f2339eb39d_0_6"/>
          <p:cNvSpPr txBox="1"/>
          <p:nvPr>
            <p:ph idx="1" type="body"/>
          </p:nvPr>
        </p:nvSpPr>
        <p:spPr>
          <a:xfrm>
            <a:off x="457200" y="1130152"/>
            <a:ext cx="8229600" cy="3480000"/>
          </a:xfrm>
          <a:prstGeom prst="rect">
            <a:avLst/>
          </a:prstGeom>
        </p:spPr>
        <p:txBody>
          <a:bodyPr anchorCtr="0" anchor="t" bIns="47025" lIns="94100" spcFirstLastPara="1" rIns="94100" wrap="square" tIns="47025">
            <a:noAutofit/>
          </a:bodyPr>
          <a:lstStyle/>
          <a:p>
            <a:pPr indent="-285750" lvl="0" marL="285750" rtl="0" algn="l"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AutoNum type="arabicPeriod"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 xml:space="preserve">React Documentation — </a:t>
            </a:r>
            <a:r>
              <a:rPr lang="en-US" sz="1050" u="sng">
                <a:solidFill>
                  <a:srgbClr val="0045B5"/>
                </a:solidFill>
                <a:latin typeface="Arial"/>
                <a:ea typeface="Arial"/>
                <a:cs typeface="Arial"/>
                <a:sym typeface="Arial"/>
                <a:hlinkClick r:id="rId2"/>
              </a:rPr>
              <a:t>react.dev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, 2026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AutoNum type="arabicPeriod"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 xml:space="preserve">Express.js — </a:t>
            </a:r>
            <a:r>
              <a:rPr lang="en-US" sz="1050" u="sng">
                <a:solidFill>
                  <a:srgbClr val="0045B5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expressjs.com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, 2026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AutoNum type="arabicPeriod"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 xml:space="preserve">MongoDB Documentation — </a:t>
            </a:r>
            <a:r>
              <a:rPr lang="en-US" sz="1050" u="sng">
                <a:solidFill>
                  <a:srgbClr val="0045B5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mongodb.com/docs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, 2026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AutoNum type="arabicPeriod"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 xml:space="preserve">Mongoose — </a:t>
            </a:r>
            <a:r>
              <a:rPr lang="en-US" sz="1050" u="sng">
                <a:solidFill>
                  <a:srgbClr val="0045B5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mongoosejs.com/docs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, 2026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AutoNum type="arabicPeriod"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 xml:space="preserve">Redux Toolkit — </a:t>
            </a:r>
            <a:r>
              <a:rPr lang="en-US" sz="1050" u="sng">
                <a:solidFill>
                  <a:srgbClr val="0045B5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redux-toolkit.js.org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, 2026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AutoNum type="arabicPeriod"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 xml:space="preserve">React Hook Form — </a:t>
            </a:r>
            <a:r>
              <a:rPr lang="en-US" sz="1050" u="sng">
                <a:solidFill>
                  <a:srgbClr val="0045B5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react-hook-form.com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, 2026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AutoNum type="arabicPeriod"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 xml:space="preserve">Tailwind CSS — </a:t>
            </a:r>
            <a:r>
              <a:rPr lang="en-US" sz="1050" u="sng">
                <a:solidFill>
                  <a:srgbClr val="0045B5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tailwindcss.com/docs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, 2026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AutoNum type="arabicPeriod"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 xml:space="preserve">Vite — </a:t>
            </a:r>
            <a:r>
              <a:rPr lang="en-US" sz="1050" u="sng">
                <a:solidFill>
                  <a:srgbClr val="0045B5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vitejs.dev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, 2026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AutoNum type="arabicPeriod"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 xml:space="preserve">JSON Web Tokens — </a:t>
            </a:r>
            <a:r>
              <a:rPr lang="en-US" sz="1050" u="sng">
                <a:solidFill>
                  <a:srgbClr val="0045B5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jwt.io/introduction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, 2026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AutoNum type="arabicPeriod"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 xml:space="preserve">Cloudinary Documentation — </a:t>
            </a:r>
            <a:r>
              <a:rPr lang="en-US" sz="1050" u="sng">
                <a:solidFill>
                  <a:srgbClr val="0045B5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cloudinary.com/documentation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, 2026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AutoNum type="arabicPeriod"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 xml:space="preserve">Vercel Documentation — </a:t>
            </a:r>
            <a:r>
              <a:rPr lang="en-US" sz="1050" u="sng">
                <a:solidFill>
                  <a:srgbClr val="0045B5"/>
                </a:solidFill>
                <a:latin typeface="Arial"/>
                <a:ea typeface="Arial"/>
                <a:cs typeface="Arial"/>
                <a:sym typeface="Arial"/>
                <a:hlinkClick r:id="rId12"/>
              </a:rPr>
              <a:t>vercel.com/docs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, 2026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AutoNum type="arabicPeriod"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 xml:space="preserve">Render Documentation — </a:t>
            </a:r>
            <a:r>
              <a:rPr lang="en-US" sz="1050" u="sng">
                <a:solidFill>
                  <a:srgbClr val="0045B5"/>
                </a:solidFill>
                <a:latin typeface="Arial"/>
                <a:ea typeface="Arial"/>
                <a:cs typeface="Arial"/>
                <a:sym typeface="Arial"/>
                <a:hlinkClick r:id="rId13"/>
              </a:rPr>
              <a:t>render.com/docs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, 2026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AutoNum type="arabicPeriod"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 xml:space="preserve">eRaktKosh, Ministry of Health &amp; Family Welfare — </a:t>
            </a:r>
            <a:r>
              <a:rPr lang="en-US" sz="1050" u="sng">
                <a:solidFill>
                  <a:srgbClr val="0045B5"/>
                </a:solidFill>
                <a:latin typeface="Arial"/>
                <a:ea typeface="Arial"/>
                <a:cs typeface="Arial"/>
                <a:sym typeface="Arial"/>
                <a:hlinkClick r:id="rId14"/>
              </a:rPr>
              <a:t>eraktkosh.mohfw.gov.in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, 2026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AutoNum type="arabicPeriod"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 xml:space="preserve">Friends2Support — </a:t>
            </a:r>
            <a:r>
              <a:rPr lang="en-US" sz="1050" u="sng">
                <a:solidFill>
                  <a:srgbClr val="0045B5"/>
                </a:solidFill>
                <a:latin typeface="Arial"/>
                <a:ea typeface="Arial"/>
                <a:cs typeface="Arial"/>
                <a:sym typeface="Arial"/>
                <a:hlinkClick r:id="rId15"/>
              </a:rPr>
              <a:t>friends2support.org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, 2026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2339eb39d_0_6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Maralakshikari Sreeshwan</dc:creator>
  <dc:title>Emergency Blood Connector - Project Presentation</dc:title>
  <dc:subject>Summer Internship Project Presentation</dc:subject>
  <cp:lastModifiedBy>Maralakshikari Sreeshwan</cp:lastModifiedBy>
</cp:coreProperties>
</file>